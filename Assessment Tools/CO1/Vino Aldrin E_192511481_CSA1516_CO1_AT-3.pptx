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10"/>
  </p:normalViewPr>
  <p:slideViewPr>
    <p:cSldViewPr snapToGrid="0" snapToObjects="1">
      <p:cViewPr varScale="1">
        <p:scale>
          <a:sx n="64" d="100"/>
          <a:sy n="64" d="100"/>
        </p:scale>
        <p:origin x="8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9132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will talk about the role of networking in cloud computing. First, let's set the context. Cloud computing means using computing services like servers, storage and software over the internet instead of running everything on our own machine. Networking in cloud computing is the set of connections and protocols that let our device talk to these remote servers reliably and securely. In this presentation I will explain why networking matters, walk through a real cloud networking architecture, cover the key components involved, look at a real example using Google Drive, and finally see where this is used in industry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matters in cloud computing for seven main reasons. It enables communication between users, devices and servers. It carries out actual data transfer between our system and the cloud. It allows remote access, so we can use cloud resources from any location. Good networking gives scalability, letting providers add capacity as more users join. It gives reliability, because traffic can be rerouted if one path fails. It provides security through firewalls, VPNs and encryption that protect our data in transit. And finally it affects performance — a well-designed network reduces delay and gives us fast, smooth access to cloud applications.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complete path of a request in cloud computing. It starts at the user's device, which connects through Wi-Fi or a mobile network to the internet. DNS then resolves the website address into a server IP. The request passes through a firewall for security checks, and a load balancer spreads the traffic across multiple servers so no single server is overloaded. The request finally reaches the cloud data centre, where virtual machines process it, the database handles structured data, and cloud storage manages files. Every one of these ten stages depends on networking to move data quickly and safely from one point to the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building blocks that make cloud networking work. The internet is the global network linking users and cloud servers. A router directs packets between different networks, while a switch connects devices within the same local network. DNS translates the domain names we type into IP addresses computers understand. A firewall filters traffic and blocks unauthorised access, and a load balancer spreads incoming requests across multiple servers to avoid overload. A VPN creates a secure private tunnel over the public internet, and a Virtual Private Cloud, or VPC, gives an organisation its own isolated network inside the public cloud.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a real example we all use — Google Drive. When we upload a file, it travels over the internet to Google's network, which routes it to the nearest available data centre. Before storing anything, Google authenticates our identity to make sure we are who we claim to be. Once verified, the file is saved across distributed cloud storage. When we later open that file from another device, the exact same networking path works in reverse to retrieve it almost instantly. Every single step here — upload, routing, authentication and retrieval — depends completely on a fast and secure network connection.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networking is used across almost every major industry today. AWS, Microsoft Azure and Google Cloud all rely on massive global networks to connect their data centres and deliver services quickly. Netflix depends on content delivery networks so videos stream without buffering. Amazon uses distributed networking to support its e-commerce and logistics operations. Banks use encrypted channels and VPNs to keep transactions secure. Hospitals depend on networked systems to share patient data in real time, and educational institutions rely on cloud platforms to deliver online learning to students anywhere. This shows how central networking is to modern digital infrastructure.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networking is the backbone that connects users to cloud services, and components such as DNS, firewalls and load balancers keep that connection fast and secure. We saw how everyday platforms, from Google Drive to Netflix, depend entirely on strong networking for scalability, reliability and security. Looking ahead, the future of cloud networking includes software-defined networking for more flexible management, 5G integration for faster mobile access, edge computing to reduce latency, and AI-driven monitoring for proactive security. Thank you for listening, and I am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411480"/>
            <a:ext cx="11365992" cy="6035040"/>
          </a:xfrm>
          <a:prstGeom prst="rect">
            <a:avLst/>
          </a:prstGeom>
          <a:solidFill>
            <a:srgbClr val="FFFFFF"/>
          </a:solidFill>
          <a:ln w="12700">
            <a:solidFill>
              <a:srgbClr val="BFBFBF"/>
            </a:solidFill>
            <a:prstDash val="solid"/>
          </a:ln>
        </p:spPr>
      </p:sp>
      <p:sp>
        <p:nvSpPr>
          <p:cNvPr id="3" name="Text 1"/>
          <p:cNvSpPr/>
          <p:nvPr/>
        </p:nvSpPr>
        <p:spPr>
          <a:xfrm>
            <a:off x="914400" y="1554480"/>
            <a:ext cx="10360152" cy="365760"/>
          </a:xfrm>
          <a:prstGeom prst="rect">
            <a:avLst/>
          </a:prstGeom>
          <a:noFill/>
          <a:ln/>
        </p:spPr>
        <p:txBody>
          <a:bodyPr wrap="square" rtlCol="0" anchor="ctr"/>
          <a:lstStyle/>
          <a:p>
            <a:pPr marL="0" indent="0" algn="ctr">
              <a:buNone/>
            </a:pPr>
            <a:endParaRPr lang="en-US" sz="1600" i="1" kern="0" spc="200" dirty="0">
              <a:solidFill>
                <a:srgbClr val="44546A"/>
              </a:solidFill>
              <a:latin typeface="Times New Roman" pitchFamily="34" charset="0"/>
              <a:ea typeface="Times New Roman" pitchFamily="34" charset="-122"/>
              <a:cs typeface="Times New Roman" pitchFamily="34" charset="-120"/>
            </a:endParaRPr>
          </a:p>
          <a:p>
            <a:pPr marL="0" indent="0" algn="ctr">
              <a:buNone/>
            </a:pPr>
            <a:r>
              <a:rPr lang="en-US" sz="1600" i="1" kern="0" spc="200" dirty="0">
                <a:solidFill>
                  <a:srgbClr val="44546A"/>
                </a:solidFill>
                <a:latin typeface="Times New Roman" pitchFamily="34" charset="0"/>
                <a:ea typeface="Times New Roman" pitchFamily="34" charset="-122"/>
                <a:cs typeface="Times New Roman" pitchFamily="34" charset="-120"/>
              </a:rPr>
              <a:t>TECHNICAL PRESENTATION</a:t>
            </a:r>
            <a:endParaRPr lang="en-US" sz="1600" dirty="0"/>
          </a:p>
        </p:txBody>
      </p:sp>
      <p:sp>
        <p:nvSpPr>
          <p:cNvPr id="4" name="Text 2"/>
          <p:cNvSpPr/>
          <p:nvPr/>
        </p:nvSpPr>
        <p:spPr>
          <a:xfrm>
            <a:off x="914400" y="2057400"/>
            <a:ext cx="10360152" cy="1554480"/>
          </a:xfrm>
          <a:prstGeom prst="rect">
            <a:avLst/>
          </a:prstGeom>
          <a:noFill/>
          <a:ln/>
        </p:spPr>
        <p:txBody>
          <a:bodyPr wrap="square" rtlCol="0" anchor="ctr"/>
          <a:lstStyle/>
          <a:p>
            <a:pPr marL="0" indent="0" algn="ctr">
              <a:lnSpc>
                <a:spcPct val="115000"/>
              </a:lnSpc>
              <a:buNone/>
            </a:pPr>
            <a:r>
              <a:rPr lang="en-US" sz="3400" b="1" dirty="0">
                <a:solidFill>
                  <a:srgbClr val="1F3864"/>
                </a:solidFill>
                <a:latin typeface="Times New Roman" pitchFamily="34" charset="0"/>
                <a:ea typeface="Times New Roman" pitchFamily="34" charset="-122"/>
                <a:cs typeface="Times New Roman" pitchFamily="34" charset="-120"/>
              </a:rPr>
              <a:t>Role of Networking in</a:t>
            </a:r>
            <a:endParaRPr lang="en-US" sz="3400" dirty="0"/>
          </a:p>
          <a:p>
            <a:pPr marL="0" indent="0" algn="ctr">
              <a:lnSpc>
                <a:spcPct val="115000"/>
              </a:lnSpc>
              <a:buNone/>
            </a:pPr>
            <a:r>
              <a:rPr lang="en-US" sz="3400" b="1" dirty="0">
                <a:solidFill>
                  <a:srgbClr val="1F3864"/>
                </a:solidFill>
                <a:latin typeface="Times New Roman" pitchFamily="34" charset="0"/>
                <a:ea typeface="Times New Roman" pitchFamily="34" charset="-122"/>
                <a:cs typeface="Times New Roman" pitchFamily="34" charset="-120"/>
              </a:rPr>
              <a:t>Cloud Computing</a:t>
            </a:r>
            <a:endParaRPr lang="en-US" sz="3400" dirty="0"/>
          </a:p>
        </p:txBody>
      </p:sp>
      <p:sp>
        <p:nvSpPr>
          <p:cNvPr id="5" name="Shape 3"/>
          <p:cNvSpPr/>
          <p:nvPr/>
        </p:nvSpPr>
        <p:spPr>
          <a:xfrm>
            <a:off x="4261104" y="3703320"/>
            <a:ext cx="3657600" cy="0"/>
          </a:xfrm>
          <a:prstGeom prst="line">
            <a:avLst/>
          </a:prstGeom>
          <a:noFill/>
          <a:ln w="12700">
            <a:solidFill>
              <a:srgbClr val="BFBFBF"/>
            </a:solidFill>
            <a:prstDash val="solid"/>
          </a:ln>
        </p:spPr>
      </p:sp>
      <p:sp>
        <p:nvSpPr>
          <p:cNvPr id="6" name="Text 4"/>
          <p:cNvSpPr/>
          <p:nvPr/>
        </p:nvSpPr>
        <p:spPr>
          <a:xfrm>
            <a:off x="3108960" y="3977640"/>
            <a:ext cx="2103120" cy="329184"/>
          </a:xfrm>
          <a:prstGeom prst="rect">
            <a:avLst/>
          </a:prstGeom>
          <a:noFill/>
          <a:ln/>
        </p:spPr>
        <p:txBody>
          <a:bodyPr wrap="square" rtlCol="0" anchor="ctr"/>
          <a:lstStyle/>
          <a:p>
            <a:pPr marL="0" indent="0" algn="r">
              <a:buNone/>
            </a:pPr>
            <a:r>
              <a:rPr lang="en-US" sz="1600" b="1" dirty="0">
                <a:solidFill>
                  <a:srgbClr val="1F3864"/>
                </a:solidFill>
                <a:latin typeface="Times New Roman" pitchFamily="34" charset="0"/>
                <a:ea typeface="Times New Roman" pitchFamily="34" charset="-122"/>
                <a:cs typeface="Times New Roman" pitchFamily="34" charset="-120"/>
              </a:rPr>
              <a:t>Name :</a:t>
            </a:r>
            <a:endParaRPr lang="en-US" sz="1600" dirty="0"/>
          </a:p>
        </p:txBody>
      </p:sp>
      <p:sp>
        <p:nvSpPr>
          <p:cNvPr id="7" name="Text 5"/>
          <p:cNvSpPr/>
          <p:nvPr/>
        </p:nvSpPr>
        <p:spPr>
          <a:xfrm>
            <a:off x="5349240" y="3977640"/>
            <a:ext cx="5486400" cy="329184"/>
          </a:xfrm>
          <a:prstGeom prst="rect">
            <a:avLst/>
          </a:prstGeom>
          <a:noFill/>
          <a:ln/>
        </p:spPr>
        <p:txBody>
          <a:bodyPr wrap="square" rtlCol="0" anchor="ct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VINO ALDRIN E</a:t>
            </a:r>
            <a:endParaRPr lang="en-US" sz="1600" dirty="0"/>
          </a:p>
        </p:txBody>
      </p:sp>
      <p:sp>
        <p:nvSpPr>
          <p:cNvPr id="8" name="Text 6"/>
          <p:cNvSpPr/>
          <p:nvPr/>
        </p:nvSpPr>
        <p:spPr>
          <a:xfrm>
            <a:off x="3108960" y="4379976"/>
            <a:ext cx="2103120" cy="329184"/>
          </a:xfrm>
          <a:prstGeom prst="rect">
            <a:avLst/>
          </a:prstGeom>
          <a:noFill/>
          <a:ln/>
        </p:spPr>
        <p:txBody>
          <a:bodyPr wrap="square" rtlCol="0" anchor="ctr"/>
          <a:lstStyle/>
          <a:p>
            <a:pPr marL="0" indent="0" algn="r">
              <a:buNone/>
            </a:pPr>
            <a:r>
              <a:rPr lang="en-US" sz="1600" b="1" dirty="0">
                <a:solidFill>
                  <a:srgbClr val="1F3864"/>
                </a:solidFill>
                <a:latin typeface="Times New Roman" pitchFamily="34" charset="0"/>
                <a:ea typeface="Times New Roman" pitchFamily="34" charset="-122"/>
                <a:cs typeface="Times New Roman" pitchFamily="34" charset="-120"/>
              </a:rPr>
              <a:t>Register Number :</a:t>
            </a:r>
            <a:endParaRPr lang="en-US" sz="1600" dirty="0"/>
          </a:p>
        </p:txBody>
      </p:sp>
      <p:sp>
        <p:nvSpPr>
          <p:cNvPr id="9" name="Text 7"/>
          <p:cNvSpPr/>
          <p:nvPr/>
        </p:nvSpPr>
        <p:spPr>
          <a:xfrm>
            <a:off x="5349240" y="4379976"/>
            <a:ext cx="5486400" cy="329184"/>
          </a:xfrm>
          <a:prstGeom prst="rect">
            <a:avLst/>
          </a:prstGeom>
          <a:noFill/>
          <a:ln/>
        </p:spPr>
        <p:txBody>
          <a:bodyPr wrap="square" rtlCol="0" anchor="ct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192511481</a:t>
            </a:r>
            <a:endParaRPr lang="en-US" sz="1600" dirty="0"/>
          </a:p>
        </p:txBody>
      </p:sp>
      <p:sp>
        <p:nvSpPr>
          <p:cNvPr id="10" name="Text 8"/>
          <p:cNvSpPr/>
          <p:nvPr/>
        </p:nvSpPr>
        <p:spPr>
          <a:xfrm>
            <a:off x="3108960" y="4782312"/>
            <a:ext cx="2103120" cy="329184"/>
          </a:xfrm>
          <a:prstGeom prst="rect">
            <a:avLst/>
          </a:prstGeom>
          <a:noFill/>
          <a:ln/>
        </p:spPr>
        <p:txBody>
          <a:bodyPr wrap="square" rtlCol="0" anchor="ctr"/>
          <a:lstStyle/>
          <a:p>
            <a:pPr marL="0" indent="0" algn="r">
              <a:buNone/>
            </a:pPr>
            <a:r>
              <a:rPr lang="en-US" sz="1600" b="1" dirty="0">
                <a:solidFill>
                  <a:srgbClr val="1F3864"/>
                </a:solidFill>
                <a:latin typeface="Times New Roman" pitchFamily="34" charset="0"/>
                <a:ea typeface="Times New Roman" pitchFamily="34" charset="-122"/>
                <a:cs typeface="Times New Roman" pitchFamily="34" charset="-120"/>
              </a:rPr>
              <a:t>Department :</a:t>
            </a:r>
            <a:endParaRPr lang="en-US" sz="1600" dirty="0"/>
          </a:p>
        </p:txBody>
      </p:sp>
      <p:sp>
        <p:nvSpPr>
          <p:cNvPr id="11" name="Text 9"/>
          <p:cNvSpPr/>
          <p:nvPr/>
        </p:nvSpPr>
        <p:spPr>
          <a:xfrm>
            <a:off x="5349240" y="4782312"/>
            <a:ext cx="5486400" cy="329184"/>
          </a:xfrm>
          <a:prstGeom prst="rect">
            <a:avLst/>
          </a:prstGeom>
          <a:noFill/>
          <a:ln/>
        </p:spPr>
        <p:txBody>
          <a:bodyPr wrap="square" rtlCol="0" anchor="ct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Department of Computer Science and Engineering</a:t>
            </a:r>
            <a:endParaRPr lang="en-US" sz="1600" dirty="0"/>
          </a:p>
        </p:txBody>
      </p:sp>
      <p:sp>
        <p:nvSpPr>
          <p:cNvPr id="12" name="Text 10"/>
          <p:cNvSpPr/>
          <p:nvPr/>
        </p:nvSpPr>
        <p:spPr>
          <a:xfrm>
            <a:off x="3108960" y="5184648"/>
            <a:ext cx="2103120" cy="329184"/>
          </a:xfrm>
          <a:prstGeom prst="rect">
            <a:avLst/>
          </a:prstGeom>
          <a:noFill/>
          <a:ln/>
        </p:spPr>
        <p:txBody>
          <a:bodyPr wrap="square" rtlCol="0" anchor="ctr"/>
          <a:lstStyle/>
          <a:p>
            <a:pPr marL="0" indent="0" algn="r">
              <a:buNone/>
            </a:pPr>
            <a:r>
              <a:rPr lang="en-US" sz="1600" b="1" dirty="0">
                <a:solidFill>
                  <a:srgbClr val="1F3864"/>
                </a:solidFill>
                <a:latin typeface="Times New Roman" pitchFamily="34" charset="0"/>
                <a:ea typeface="Times New Roman" pitchFamily="34" charset="-122"/>
                <a:cs typeface="Times New Roman" pitchFamily="34" charset="-120"/>
              </a:rPr>
              <a:t>Institution :</a:t>
            </a:r>
            <a:endParaRPr lang="en-US" sz="1600" dirty="0"/>
          </a:p>
        </p:txBody>
      </p:sp>
      <p:sp>
        <p:nvSpPr>
          <p:cNvPr id="13" name="Text 11"/>
          <p:cNvSpPr/>
          <p:nvPr/>
        </p:nvSpPr>
        <p:spPr>
          <a:xfrm>
            <a:off x="5349240" y="5184648"/>
            <a:ext cx="5486400" cy="329184"/>
          </a:xfrm>
          <a:prstGeom prst="rect">
            <a:avLst/>
          </a:prstGeom>
          <a:noFill/>
          <a:ln/>
        </p:spPr>
        <p:txBody>
          <a:bodyPr wrap="square" rtlCol="0" anchor="ct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Saveetha School of Engineering (SIMATS), Chennai</a:t>
            </a:r>
            <a:endParaRPr lang="en-US" sz="1600" dirty="0"/>
          </a:p>
        </p:txBody>
      </p:sp>
      <p:sp>
        <p:nvSpPr>
          <p:cNvPr id="14" name="Text 12"/>
          <p:cNvSpPr/>
          <p:nvPr/>
        </p:nvSpPr>
        <p:spPr>
          <a:xfrm>
            <a:off x="3108960" y="5586984"/>
            <a:ext cx="2103120" cy="329184"/>
          </a:xfrm>
          <a:prstGeom prst="rect">
            <a:avLst/>
          </a:prstGeom>
          <a:noFill/>
          <a:ln/>
        </p:spPr>
        <p:txBody>
          <a:bodyPr wrap="square" rtlCol="0" anchor="ctr"/>
          <a:lstStyle/>
          <a:p>
            <a:pPr marL="0" indent="0" algn="r">
              <a:buNone/>
            </a:pPr>
            <a:r>
              <a:rPr lang="en-US" sz="1600" b="1" dirty="0">
                <a:solidFill>
                  <a:srgbClr val="1F3864"/>
                </a:solidFill>
                <a:latin typeface="Times New Roman" pitchFamily="34" charset="0"/>
                <a:ea typeface="Times New Roman" pitchFamily="34" charset="-122"/>
                <a:cs typeface="Times New Roman" pitchFamily="34" charset="-120"/>
              </a:rPr>
              <a:t>Date :</a:t>
            </a:r>
            <a:endParaRPr lang="en-US" sz="1600" dirty="0"/>
          </a:p>
        </p:txBody>
      </p:sp>
      <p:sp>
        <p:nvSpPr>
          <p:cNvPr id="15" name="Text 13"/>
          <p:cNvSpPr/>
          <p:nvPr/>
        </p:nvSpPr>
        <p:spPr>
          <a:xfrm>
            <a:off x="5349240" y="5586984"/>
            <a:ext cx="5486400" cy="329184"/>
          </a:xfrm>
          <a:prstGeom prst="rect">
            <a:avLst/>
          </a:prstGeom>
          <a:noFill/>
          <a:ln/>
        </p:spPr>
        <p:txBody>
          <a:bodyPr wrap="square" rtlCol="0" anchor="ctr"/>
          <a:lstStyle/>
          <a:p>
            <a:pPr marL="0" indent="0" algn="l">
              <a:buNone/>
            </a:pPr>
            <a:r>
              <a:rPr lang="en-US" sz="1600" dirty="0">
                <a:solidFill>
                  <a:srgbClr val="262626"/>
                </a:solidFill>
                <a:latin typeface="Times New Roman" pitchFamily="34" charset="0"/>
                <a:cs typeface="Times New Roman" pitchFamily="34" charset="-120"/>
              </a:rPr>
              <a:t>24/07/2026</a:t>
            </a:r>
            <a:endParaRPr lang="en-US" sz="1600" dirty="0"/>
          </a:p>
        </p:txBody>
      </p:sp>
      <p:pic>
        <p:nvPicPr>
          <p:cNvPr id="16" name="Picture 2" descr="SSE-Computer Science and Engineering">
            <a:extLst>
              <a:ext uri="{FF2B5EF4-FFF2-40B4-BE49-F238E27FC236}">
                <a16:creationId xmlns:a16="http://schemas.microsoft.com/office/drawing/2014/main" id="{87D181CA-403A-5379-D926-025CE2F169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432" y="389267"/>
            <a:ext cx="10953135" cy="11602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F3864"/>
                </a:solidFill>
                <a:latin typeface="Times New Roman" pitchFamily="34" charset="0"/>
                <a:ea typeface="Times New Roman" pitchFamily="34" charset="-122"/>
                <a:cs typeface="Times New Roman" pitchFamily="34" charset="-120"/>
              </a:rPr>
              <a:t>Introduction</a:t>
            </a:r>
            <a:endParaRPr lang="en-US" sz="3000" dirty="0"/>
          </a:p>
        </p:txBody>
      </p:sp>
      <p:sp>
        <p:nvSpPr>
          <p:cNvPr id="3" name="Shape 1"/>
          <p:cNvSpPr/>
          <p:nvPr/>
        </p:nvSpPr>
        <p:spPr>
          <a:xfrm>
            <a:off x="548640" y="1170432"/>
            <a:ext cx="11091672" cy="0"/>
          </a:xfrm>
          <a:prstGeom prst="line">
            <a:avLst/>
          </a:prstGeom>
          <a:noFill/>
          <a:ln w="12700">
            <a:solidFill>
              <a:srgbClr val="BFBFBF"/>
            </a:solidFill>
            <a:prstDash val="solid"/>
          </a:ln>
        </p:spPr>
      </p:sp>
      <p:sp>
        <p:nvSpPr>
          <p:cNvPr id="4" name="Text 2"/>
          <p:cNvSpPr/>
          <p:nvPr/>
        </p:nvSpPr>
        <p:spPr>
          <a:xfrm>
            <a:off x="548640" y="1417320"/>
            <a:ext cx="66751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What is Cloud Computing?</a:t>
            </a:r>
            <a:endParaRPr lang="en-US" sz="2200" dirty="0"/>
          </a:p>
        </p:txBody>
      </p:sp>
      <p:sp>
        <p:nvSpPr>
          <p:cNvPr id="5" name="Text 3"/>
          <p:cNvSpPr/>
          <p:nvPr/>
        </p:nvSpPr>
        <p:spPr>
          <a:xfrm>
            <a:off x="548640" y="1874520"/>
            <a:ext cx="6675120" cy="822960"/>
          </a:xfrm>
          <a:prstGeom prst="rect">
            <a:avLst/>
          </a:prstGeom>
          <a:noFill/>
          <a:ln/>
        </p:spPr>
        <p:txBody>
          <a:bodyPr wrap="square" rtlCol="0" anchor="ctr"/>
          <a:lstStyle/>
          <a:p>
            <a:pPr marL="0" indent="0">
              <a:lnSpc>
                <a:spcPct val="112000"/>
              </a:lnSpc>
              <a:buNone/>
            </a:pPr>
            <a:r>
              <a:rPr lang="en-US" sz="2000" dirty="0">
                <a:solidFill>
                  <a:srgbClr val="262626"/>
                </a:solidFill>
                <a:latin typeface="Times New Roman" pitchFamily="34" charset="0"/>
                <a:ea typeface="Times New Roman" pitchFamily="34" charset="-122"/>
                <a:cs typeface="Times New Roman" pitchFamily="34" charset="-120"/>
              </a:rPr>
              <a:t>Delivery of computing services — servers, storage, databases and software — over the internet instead of on a local machine.</a:t>
            </a:r>
            <a:endParaRPr lang="en-US" sz="2000" dirty="0"/>
          </a:p>
        </p:txBody>
      </p:sp>
      <p:sp>
        <p:nvSpPr>
          <p:cNvPr id="6" name="Text 4"/>
          <p:cNvSpPr/>
          <p:nvPr/>
        </p:nvSpPr>
        <p:spPr>
          <a:xfrm>
            <a:off x="548640" y="2926080"/>
            <a:ext cx="66751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What is Networking in Cloud Computing?</a:t>
            </a:r>
            <a:endParaRPr lang="en-US" sz="2200" dirty="0"/>
          </a:p>
        </p:txBody>
      </p:sp>
      <p:sp>
        <p:nvSpPr>
          <p:cNvPr id="7" name="Text 5"/>
          <p:cNvSpPr/>
          <p:nvPr/>
        </p:nvSpPr>
        <p:spPr>
          <a:xfrm>
            <a:off x="548640" y="3383280"/>
            <a:ext cx="6675120" cy="822960"/>
          </a:xfrm>
          <a:prstGeom prst="rect">
            <a:avLst/>
          </a:prstGeom>
          <a:noFill/>
          <a:ln/>
        </p:spPr>
        <p:txBody>
          <a:bodyPr wrap="square" rtlCol="0" anchor="ctr"/>
          <a:lstStyle/>
          <a:p>
            <a:pPr marL="0" indent="0">
              <a:lnSpc>
                <a:spcPct val="112000"/>
              </a:lnSpc>
              <a:buNone/>
            </a:pPr>
            <a:r>
              <a:rPr lang="en-US" sz="2000" dirty="0">
                <a:solidFill>
                  <a:srgbClr val="262626"/>
                </a:solidFill>
                <a:latin typeface="Times New Roman" pitchFamily="34" charset="0"/>
                <a:ea typeface="Times New Roman" pitchFamily="34" charset="-122"/>
                <a:cs typeface="Times New Roman" pitchFamily="34" charset="-120"/>
              </a:rPr>
              <a:t>The set of connections, protocols and devices that let users, applications and cloud data centres exchange data reliably and securely.</a:t>
            </a:r>
            <a:endParaRPr lang="en-US" sz="2000" dirty="0"/>
          </a:p>
        </p:txBody>
      </p:sp>
      <p:sp>
        <p:nvSpPr>
          <p:cNvPr id="8" name="Text 6"/>
          <p:cNvSpPr/>
          <p:nvPr/>
        </p:nvSpPr>
        <p:spPr>
          <a:xfrm>
            <a:off x="548640" y="4434840"/>
            <a:ext cx="66751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Objectives of this Presentation</a:t>
            </a:r>
            <a:endParaRPr lang="en-US" sz="2200" dirty="0"/>
          </a:p>
        </p:txBody>
      </p:sp>
      <p:sp>
        <p:nvSpPr>
          <p:cNvPr id="9" name="Text 7"/>
          <p:cNvSpPr/>
          <p:nvPr/>
        </p:nvSpPr>
        <p:spPr>
          <a:xfrm>
            <a:off x="548640" y="4873752"/>
            <a:ext cx="6675120" cy="1188720"/>
          </a:xfrm>
          <a:prstGeom prst="rect">
            <a:avLst/>
          </a:prstGeom>
          <a:noFill/>
          <a:ln/>
        </p:spPr>
        <p:txBody>
          <a:bodyPr wrap="square" rtlCol="0" anchor="ctr"/>
          <a:lstStyle/>
          <a:p>
            <a:pPr marL="342900" indent="-342900">
              <a:lnSpc>
                <a:spcPct val="110000"/>
              </a:lnSpc>
              <a:spcAft>
                <a:spcPts val="6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Understand why networking is the backbone of cloud computing</a:t>
            </a:r>
            <a:endParaRPr lang="en-US" sz="2000" dirty="0"/>
          </a:p>
          <a:p>
            <a:pPr marL="342900" indent="-342900">
              <a:lnSpc>
                <a:spcPct val="110000"/>
              </a:lnSpc>
              <a:spcAft>
                <a:spcPts val="6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Study the architecture that connects a user to cloud storage</a:t>
            </a:r>
            <a:endParaRPr lang="en-US" sz="2000" dirty="0"/>
          </a:p>
          <a:p>
            <a:pPr marL="342900" indent="-342900">
              <a:lnSpc>
                <a:spcPct val="110000"/>
              </a:lnSpc>
              <a:spcAft>
                <a:spcPts val="6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Identify key networking components used in the cloud</a:t>
            </a:r>
            <a:endParaRPr lang="en-US" sz="2000" dirty="0"/>
          </a:p>
        </p:txBody>
      </p:sp>
      <p:sp>
        <p:nvSpPr>
          <p:cNvPr id="10" name="Shape 8"/>
          <p:cNvSpPr/>
          <p:nvPr/>
        </p:nvSpPr>
        <p:spPr>
          <a:xfrm>
            <a:off x="8412480" y="1737360"/>
            <a:ext cx="1554480" cy="1005840"/>
          </a:xfrm>
          <a:prstGeom prst="rect">
            <a:avLst/>
          </a:prstGeom>
          <a:solidFill>
            <a:srgbClr val="EEF1F6"/>
          </a:solidFill>
          <a:ln w="19050">
            <a:solidFill>
              <a:srgbClr val="1F3864"/>
            </a:solidFill>
            <a:prstDash val="solid"/>
          </a:ln>
        </p:spPr>
      </p:sp>
      <p:sp>
        <p:nvSpPr>
          <p:cNvPr id="11" name="Shape 9"/>
          <p:cNvSpPr/>
          <p:nvPr/>
        </p:nvSpPr>
        <p:spPr>
          <a:xfrm>
            <a:off x="8732520" y="2743200"/>
            <a:ext cx="914400" cy="109728"/>
          </a:xfrm>
          <a:prstGeom prst="rect">
            <a:avLst/>
          </a:prstGeom>
          <a:solidFill>
            <a:srgbClr val="44546A"/>
          </a:solidFill>
          <a:ln w="6350">
            <a:solidFill>
              <a:srgbClr val="44546A"/>
            </a:solidFill>
            <a:prstDash val="solid"/>
          </a:ln>
        </p:spPr>
      </p:sp>
      <p:sp>
        <p:nvSpPr>
          <p:cNvPr id="12" name="Text 10"/>
          <p:cNvSpPr/>
          <p:nvPr/>
        </p:nvSpPr>
        <p:spPr>
          <a:xfrm>
            <a:off x="8412480" y="2926080"/>
            <a:ext cx="1554480" cy="274320"/>
          </a:xfrm>
          <a:prstGeom prst="rect">
            <a:avLst/>
          </a:prstGeom>
          <a:noFill/>
          <a:ln/>
        </p:spPr>
        <p:txBody>
          <a:bodyPr wrap="square" rtlCol="0" anchor="ctr"/>
          <a:lstStyle/>
          <a:p>
            <a:pPr marL="0" indent="0" algn="ctr">
              <a:buNone/>
            </a:pPr>
            <a:r>
              <a:rPr lang="en-US" sz="1200" dirty="0">
                <a:solidFill>
                  <a:srgbClr val="44546A"/>
                </a:solidFill>
                <a:latin typeface="Times New Roman" pitchFamily="34" charset="0"/>
                <a:ea typeface="Times New Roman" pitchFamily="34" charset="-122"/>
                <a:cs typeface="Times New Roman" pitchFamily="34" charset="-120"/>
              </a:rPr>
              <a:t>User Device</a:t>
            </a:r>
            <a:endParaRPr lang="en-US" sz="1200" dirty="0"/>
          </a:p>
        </p:txBody>
      </p:sp>
      <p:sp>
        <p:nvSpPr>
          <p:cNvPr id="13" name="Shape 11"/>
          <p:cNvSpPr/>
          <p:nvPr/>
        </p:nvSpPr>
        <p:spPr>
          <a:xfrm>
            <a:off x="9966960" y="2240280"/>
            <a:ext cx="822960" cy="0"/>
          </a:xfrm>
          <a:prstGeom prst="line">
            <a:avLst/>
          </a:prstGeom>
          <a:noFill/>
          <a:ln w="19050">
            <a:solidFill>
              <a:srgbClr val="1F3864"/>
            </a:solidFill>
            <a:prstDash val="solid"/>
            <a:tailEnd type="triangle"/>
          </a:ln>
        </p:spPr>
      </p:sp>
      <p:sp>
        <p:nvSpPr>
          <p:cNvPr id="14" name="Shape 12"/>
          <p:cNvSpPr/>
          <p:nvPr/>
        </p:nvSpPr>
        <p:spPr>
          <a:xfrm>
            <a:off x="10835640" y="1965960"/>
            <a:ext cx="914400" cy="502920"/>
          </a:xfrm>
          <a:prstGeom prst="rect">
            <a:avLst/>
          </a:prstGeom>
          <a:solidFill>
            <a:srgbClr val="EEF1F6"/>
          </a:solidFill>
          <a:ln w="19050">
            <a:solidFill>
              <a:srgbClr val="1F3864"/>
            </a:solidFill>
            <a:prstDash val="solid"/>
          </a:ln>
        </p:spPr>
      </p:sp>
      <p:sp>
        <p:nvSpPr>
          <p:cNvPr id="15" name="Shape 13"/>
          <p:cNvSpPr/>
          <p:nvPr/>
        </p:nvSpPr>
        <p:spPr>
          <a:xfrm>
            <a:off x="11018520" y="1783080"/>
            <a:ext cx="0" cy="182880"/>
          </a:xfrm>
          <a:prstGeom prst="line">
            <a:avLst/>
          </a:prstGeom>
          <a:noFill/>
          <a:ln w="12700">
            <a:solidFill>
              <a:srgbClr val="1F3864"/>
            </a:solidFill>
            <a:prstDash val="solid"/>
          </a:ln>
        </p:spPr>
      </p:sp>
      <p:sp>
        <p:nvSpPr>
          <p:cNvPr id="16" name="Shape 14"/>
          <p:cNvSpPr/>
          <p:nvPr/>
        </p:nvSpPr>
        <p:spPr>
          <a:xfrm>
            <a:off x="11567160" y="1783080"/>
            <a:ext cx="0" cy="182880"/>
          </a:xfrm>
          <a:prstGeom prst="line">
            <a:avLst/>
          </a:prstGeom>
          <a:noFill/>
          <a:ln w="12700">
            <a:solidFill>
              <a:srgbClr val="1F3864"/>
            </a:solidFill>
            <a:prstDash val="solid"/>
          </a:ln>
        </p:spPr>
      </p:sp>
      <p:sp>
        <p:nvSpPr>
          <p:cNvPr id="17" name="Text 15"/>
          <p:cNvSpPr/>
          <p:nvPr/>
        </p:nvSpPr>
        <p:spPr>
          <a:xfrm>
            <a:off x="10835640" y="2487168"/>
            <a:ext cx="914400" cy="256032"/>
          </a:xfrm>
          <a:prstGeom prst="rect">
            <a:avLst/>
          </a:prstGeom>
          <a:noFill/>
          <a:ln/>
        </p:spPr>
        <p:txBody>
          <a:bodyPr wrap="square" rtlCol="0" anchor="ctr"/>
          <a:lstStyle/>
          <a:p>
            <a:pPr marL="0" indent="0" algn="ctr">
              <a:buNone/>
            </a:pPr>
            <a:r>
              <a:rPr lang="en-US" sz="1100" dirty="0">
                <a:solidFill>
                  <a:srgbClr val="44546A"/>
                </a:solidFill>
                <a:latin typeface="Times New Roman" pitchFamily="34" charset="0"/>
                <a:ea typeface="Times New Roman" pitchFamily="34" charset="-122"/>
                <a:cs typeface="Times New Roman" pitchFamily="34" charset="-120"/>
              </a:rPr>
              <a:t>Router</a:t>
            </a:r>
            <a:endParaRPr lang="en-US" sz="1100" dirty="0"/>
          </a:p>
        </p:txBody>
      </p:sp>
      <p:sp>
        <p:nvSpPr>
          <p:cNvPr id="18" name="Shape 16"/>
          <p:cNvSpPr/>
          <p:nvPr/>
        </p:nvSpPr>
        <p:spPr>
          <a:xfrm>
            <a:off x="11292840" y="2468880"/>
            <a:ext cx="0" cy="502920"/>
          </a:xfrm>
          <a:prstGeom prst="line">
            <a:avLst/>
          </a:prstGeom>
          <a:noFill/>
          <a:ln w="19050">
            <a:solidFill>
              <a:srgbClr val="1F3864"/>
            </a:solidFill>
            <a:prstDash val="solid"/>
            <a:tailEnd type="triangle"/>
          </a:ln>
        </p:spPr>
      </p:sp>
      <p:sp>
        <p:nvSpPr>
          <p:cNvPr id="19" name="Shape 17"/>
          <p:cNvSpPr/>
          <p:nvPr/>
        </p:nvSpPr>
        <p:spPr>
          <a:xfrm>
            <a:off x="10378440" y="3200400"/>
            <a:ext cx="1828800" cy="1143000"/>
          </a:xfrm>
          <a:prstGeom prst="cloud">
            <a:avLst/>
          </a:prstGeom>
          <a:solidFill>
            <a:srgbClr val="EEF1F6"/>
          </a:solidFill>
          <a:ln w="19050">
            <a:solidFill>
              <a:srgbClr val="1F3864"/>
            </a:solidFill>
            <a:prstDash val="solid"/>
          </a:ln>
        </p:spPr>
      </p:sp>
      <p:sp>
        <p:nvSpPr>
          <p:cNvPr id="20" name="Text 18"/>
          <p:cNvSpPr/>
          <p:nvPr/>
        </p:nvSpPr>
        <p:spPr>
          <a:xfrm>
            <a:off x="10378440" y="3456432"/>
            <a:ext cx="1828800" cy="640080"/>
          </a:xfrm>
          <a:prstGeom prst="rect">
            <a:avLst/>
          </a:prstGeom>
          <a:noFill/>
          <a:ln/>
        </p:spPr>
        <p:txBody>
          <a:bodyPr wrap="square" rtlCol="0" anchor="ctr"/>
          <a:lstStyle/>
          <a:p>
            <a:pPr marL="0" indent="0" algn="ctr">
              <a:lnSpc>
                <a:spcPct val="100000"/>
              </a:lnSpc>
              <a:buNone/>
            </a:pPr>
            <a:r>
              <a:rPr lang="en-US" sz="1200" b="1" dirty="0">
                <a:solidFill>
                  <a:srgbClr val="1F3864"/>
                </a:solidFill>
                <a:latin typeface="Times New Roman" pitchFamily="34" charset="0"/>
                <a:ea typeface="Times New Roman" pitchFamily="34" charset="-122"/>
                <a:cs typeface="Times New Roman" pitchFamily="34" charset="-120"/>
              </a:rPr>
              <a:t>Cloud</a:t>
            </a:r>
            <a:endParaRPr lang="en-US" sz="1200" dirty="0"/>
          </a:p>
          <a:p>
            <a:pPr marL="0" indent="0" algn="ctr">
              <a:lnSpc>
                <a:spcPct val="100000"/>
              </a:lnSpc>
              <a:buNone/>
            </a:pPr>
            <a:r>
              <a:rPr lang="en-US" sz="1200" b="1" dirty="0">
                <a:solidFill>
                  <a:srgbClr val="1F3864"/>
                </a:solidFill>
                <a:latin typeface="Times New Roman" pitchFamily="34" charset="0"/>
                <a:ea typeface="Times New Roman" pitchFamily="34" charset="-122"/>
                <a:cs typeface="Times New Roman" pitchFamily="34" charset="-120"/>
              </a:rPr>
              <a:t>Data Centre</a:t>
            </a:r>
            <a:endParaRPr lang="en-US" sz="1200" dirty="0"/>
          </a:p>
        </p:txBody>
      </p:sp>
      <p:sp>
        <p:nvSpPr>
          <p:cNvPr id="21" name="Text 19"/>
          <p:cNvSpPr/>
          <p:nvPr/>
        </p:nvSpPr>
        <p:spPr>
          <a:xfrm>
            <a:off x="8229600" y="4617720"/>
            <a:ext cx="3566160" cy="548640"/>
          </a:xfrm>
          <a:prstGeom prst="rect">
            <a:avLst/>
          </a:prstGeom>
          <a:noFill/>
          <a:ln/>
        </p:spPr>
        <p:txBody>
          <a:bodyPr wrap="square" rtlCol="0" anchor="ctr"/>
          <a:lstStyle/>
          <a:p>
            <a:pPr marL="0" indent="0" algn="ctr">
              <a:lnSpc>
                <a:spcPct val="110000"/>
              </a:lnSpc>
              <a:buNone/>
            </a:pPr>
            <a:r>
              <a:rPr lang="en-US" sz="1100" i="1" dirty="0">
                <a:solidFill>
                  <a:srgbClr val="44546A"/>
                </a:solidFill>
                <a:latin typeface="Times New Roman" pitchFamily="34" charset="0"/>
                <a:ea typeface="Times New Roman" pitchFamily="34" charset="-122"/>
                <a:cs typeface="Times New Roman" pitchFamily="34" charset="-120"/>
              </a:rPr>
              <a:t>A simplified view: device → router → internet → cloud</a:t>
            </a:r>
            <a:endParaRPr lang="en-US" sz="1100" dirty="0"/>
          </a:p>
        </p:txBody>
      </p:sp>
      <p:sp>
        <p:nvSpPr>
          <p:cNvPr id="22" name="Text 20"/>
          <p:cNvSpPr/>
          <p:nvPr/>
        </p:nvSpPr>
        <p:spPr>
          <a:xfrm>
            <a:off x="548640" y="6547104"/>
            <a:ext cx="7315200" cy="256032"/>
          </a:xfrm>
          <a:prstGeom prst="rect">
            <a:avLst/>
          </a:prstGeom>
          <a:noFill/>
          <a:ln/>
        </p:spPr>
        <p:txBody>
          <a:bodyPr wrap="square" rtlCol="0" anchor="ctr"/>
          <a:lstStyle/>
          <a:p>
            <a:pPr marL="0" indent="0">
              <a:buNone/>
            </a:pPr>
            <a:r>
              <a:rPr lang="en-US" sz="1000" dirty="0">
                <a:solidFill>
                  <a:srgbClr val="44546A"/>
                </a:solidFill>
                <a:latin typeface="Times New Roman" pitchFamily="34" charset="0"/>
                <a:ea typeface="Times New Roman" pitchFamily="34" charset="-122"/>
                <a:cs typeface="Times New Roman" pitchFamily="34" charset="-120"/>
              </a:rPr>
              <a:t>Role of Networking in Cloud Computing</a:t>
            </a:r>
            <a:endParaRPr lang="en-US" sz="1000" dirty="0"/>
          </a:p>
        </p:txBody>
      </p:sp>
      <p:sp>
        <p:nvSpPr>
          <p:cNvPr id="23" name="Text 21"/>
          <p:cNvSpPr/>
          <p:nvPr/>
        </p:nvSpPr>
        <p:spPr>
          <a:xfrm>
            <a:off x="11548872" y="6547104"/>
            <a:ext cx="365760" cy="256032"/>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2</a:t>
            </a:r>
            <a:endParaRPr lang="en-US" sz="1000" dirty="0"/>
          </a:p>
        </p:txBody>
      </p:sp>
      <p:pic>
        <p:nvPicPr>
          <p:cNvPr id="25" name="Picture 24" descr="A blue gear with a symbol and text&#10;&#10;AI-generated content may be incorrect.">
            <a:extLst>
              <a:ext uri="{FF2B5EF4-FFF2-40B4-BE49-F238E27FC236}">
                <a16:creationId xmlns:a16="http://schemas.microsoft.com/office/drawing/2014/main" id="{845DA270-7586-EFD4-21A1-1CD40D1D79C8}"/>
              </a:ext>
            </a:extLst>
          </p:cNvPr>
          <p:cNvPicPr>
            <a:picLocks noChangeAspect="1"/>
          </p:cNvPicPr>
          <p:nvPr/>
        </p:nvPicPr>
        <p:blipFill>
          <a:blip r:embed="rId3"/>
          <a:stretch>
            <a:fillRect/>
          </a:stretch>
        </p:blipFill>
        <p:spPr>
          <a:xfrm>
            <a:off x="9892937" y="235132"/>
            <a:ext cx="1628503" cy="12191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F3864"/>
                </a:solidFill>
                <a:latin typeface="Times New Roman" pitchFamily="34" charset="0"/>
                <a:ea typeface="Times New Roman" pitchFamily="34" charset="-122"/>
                <a:cs typeface="Times New Roman" pitchFamily="34" charset="-120"/>
              </a:rPr>
              <a:t>Why Networking is Important</a:t>
            </a:r>
            <a:endParaRPr lang="en-US" sz="3000" dirty="0"/>
          </a:p>
        </p:txBody>
      </p:sp>
      <p:sp>
        <p:nvSpPr>
          <p:cNvPr id="3" name="Shape 1"/>
          <p:cNvSpPr/>
          <p:nvPr/>
        </p:nvSpPr>
        <p:spPr>
          <a:xfrm>
            <a:off x="548640" y="1170432"/>
            <a:ext cx="11091672" cy="0"/>
          </a:xfrm>
          <a:prstGeom prst="line">
            <a:avLst/>
          </a:prstGeom>
          <a:noFill/>
          <a:ln w="12700">
            <a:solidFill>
              <a:srgbClr val="BFBFBF"/>
            </a:solidFill>
            <a:prstDash val="solid"/>
          </a:ln>
        </p:spPr>
      </p:sp>
      <p:sp>
        <p:nvSpPr>
          <p:cNvPr id="4" name="Shape 2"/>
          <p:cNvSpPr/>
          <p:nvPr/>
        </p:nvSpPr>
        <p:spPr>
          <a:xfrm>
            <a:off x="640080" y="1517904"/>
            <a:ext cx="201168" cy="201168"/>
          </a:xfrm>
          <a:prstGeom prst="rect">
            <a:avLst/>
          </a:prstGeom>
          <a:solidFill>
            <a:srgbClr val="1F3864"/>
          </a:solidFill>
          <a:ln/>
        </p:spPr>
      </p:sp>
      <p:sp>
        <p:nvSpPr>
          <p:cNvPr id="5" name="Text 3"/>
          <p:cNvSpPr/>
          <p:nvPr/>
        </p:nvSpPr>
        <p:spPr>
          <a:xfrm>
            <a:off x="1005840" y="1417320"/>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Communication</a:t>
            </a:r>
            <a:endParaRPr lang="en-US" sz="2200" dirty="0"/>
          </a:p>
        </p:txBody>
      </p:sp>
      <p:sp>
        <p:nvSpPr>
          <p:cNvPr id="6" name="Text 4"/>
          <p:cNvSpPr/>
          <p:nvPr/>
        </p:nvSpPr>
        <p:spPr>
          <a:xfrm>
            <a:off x="1005840" y="1810512"/>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Connects users, devices and cloud servers seamlessly</a:t>
            </a:r>
            <a:endParaRPr lang="en-US" sz="2000" dirty="0"/>
          </a:p>
        </p:txBody>
      </p:sp>
      <p:sp>
        <p:nvSpPr>
          <p:cNvPr id="7" name="Shape 5"/>
          <p:cNvSpPr/>
          <p:nvPr/>
        </p:nvSpPr>
        <p:spPr>
          <a:xfrm>
            <a:off x="640080" y="2688336"/>
            <a:ext cx="201168" cy="201168"/>
          </a:xfrm>
          <a:prstGeom prst="rect">
            <a:avLst/>
          </a:prstGeom>
          <a:solidFill>
            <a:srgbClr val="1F3864"/>
          </a:solidFill>
          <a:ln/>
        </p:spPr>
      </p:sp>
      <p:sp>
        <p:nvSpPr>
          <p:cNvPr id="8" name="Text 6"/>
          <p:cNvSpPr/>
          <p:nvPr/>
        </p:nvSpPr>
        <p:spPr>
          <a:xfrm>
            <a:off x="1005840" y="2587752"/>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Data Transfer</a:t>
            </a:r>
            <a:endParaRPr lang="en-US" sz="2200" dirty="0"/>
          </a:p>
        </p:txBody>
      </p:sp>
      <p:sp>
        <p:nvSpPr>
          <p:cNvPr id="9" name="Text 7"/>
          <p:cNvSpPr/>
          <p:nvPr/>
        </p:nvSpPr>
        <p:spPr>
          <a:xfrm>
            <a:off x="1005840" y="2980944"/>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Moves data between clients and cloud data centres</a:t>
            </a:r>
            <a:endParaRPr lang="en-US" sz="2000" dirty="0"/>
          </a:p>
        </p:txBody>
      </p:sp>
      <p:sp>
        <p:nvSpPr>
          <p:cNvPr id="10" name="Shape 8"/>
          <p:cNvSpPr/>
          <p:nvPr/>
        </p:nvSpPr>
        <p:spPr>
          <a:xfrm>
            <a:off x="640080" y="3858768"/>
            <a:ext cx="201168" cy="201168"/>
          </a:xfrm>
          <a:prstGeom prst="rect">
            <a:avLst/>
          </a:prstGeom>
          <a:solidFill>
            <a:srgbClr val="1F3864"/>
          </a:solidFill>
          <a:ln/>
        </p:spPr>
      </p:sp>
      <p:sp>
        <p:nvSpPr>
          <p:cNvPr id="11" name="Text 9"/>
          <p:cNvSpPr/>
          <p:nvPr/>
        </p:nvSpPr>
        <p:spPr>
          <a:xfrm>
            <a:off x="1005840" y="3758184"/>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Remote Access</a:t>
            </a:r>
            <a:endParaRPr lang="en-US" sz="2200" dirty="0"/>
          </a:p>
        </p:txBody>
      </p:sp>
      <p:sp>
        <p:nvSpPr>
          <p:cNvPr id="12" name="Text 10"/>
          <p:cNvSpPr/>
          <p:nvPr/>
        </p:nvSpPr>
        <p:spPr>
          <a:xfrm>
            <a:off x="1005840" y="4151376"/>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Lets users reach cloud resources from anywhere</a:t>
            </a:r>
            <a:endParaRPr lang="en-US" sz="2000" dirty="0"/>
          </a:p>
        </p:txBody>
      </p:sp>
      <p:sp>
        <p:nvSpPr>
          <p:cNvPr id="13" name="Shape 11"/>
          <p:cNvSpPr/>
          <p:nvPr/>
        </p:nvSpPr>
        <p:spPr>
          <a:xfrm>
            <a:off x="640080" y="5029200"/>
            <a:ext cx="201168" cy="201168"/>
          </a:xfrm>
          <a:prstGeom prst="rect">
            <a:avLst/>
          </a:prstGeom>
          <a:solidFill>
            <a:srgbClr val="1F3864"/>
          </a:solidFill>
          <a:ln/>
        </p:spPr>
      </p:sp>
      <p:sp>
        <p:nvSpPr>
          <p:cNvPr id="14" name="Text 12"/>
          <p:cNvSpPr/>
          <p:nvPr/>
        </p:nvSpPr>
        <p:spPr>
          <a:xfrm>
            <a:off x="1005840" y="4928616"/>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Scalability</a:t>
            </a:r>
            <a:endParaRPr lang="en-US" sz="2200" dirty="0"/>
          </a:p>
        </p:txBody>
      </p:sp>
      <p:sp>
        <p:nvSpPr>
          <p:cNvPr id="15" name="Text 13"/>
          <p:cNvSpPr/>
          <p:nvPr/>
        </p:nvSpPr>
        <p:spPr>
          <a:xfrm>
            <a:off x="1005840" y="5321808"/>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Adds network capacity as demand grows</a:t>
            </a:r>
            <a:endParaRPr lang="en-US" sz="2000" dirty="0"/>
          </a:p>
        </p:txBody>
      </p:sp>
      <p:sp>
        <p:nvSpPr>
          <p:cNvPr id="16" name="Shape 14"/>
          <p:cNvSpPr/>
          <p:nvPr/>
        </p:nvSpPr>
        <p:spPr>
          <a:xfrm>
            <a:off x="6309360" y="1517904"/>
            <a:ext cx="201168" cy="201168"/>
          </a:xfrm>
          <a:prstGeom prst="rect">
            <a:avLst/>
          </a:prstGeom>
          <a:solidFill>
            <a:srgbClr val="1F3864"/>
          </a:solidFill>
          <a:ln/>
        </p:spPr>
      </p:sp>
      <p:sp>
        <p:nvSpPr>
          <p:cNvPr id="17" name="Text 15"/>
          <p:cNvSpPr/>
          <p:nvPr/>
        </p:nvSpPr>
        <p:spPr>
          <a:xfrm>
            <a:off x="6675120" y="1417320"/>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Reliability</a:t>
            </a:r>
            <a:endParaRPr lang="en-US" sz="2200" dirty="0"/>
          </a:p>
        </p:txBody>
      </p:sp>
      <p:sp>
        <p:nvSpPr>
          <p:cNvPr id="18" name="Text 16"/>
          <p:cNvSpPr/>
          <p:nvPr/>
        </p:nvSpPr>
        <p:spPr>
          <a:xfrm>
            <a:off x="6675120" y="1810512"/>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Keeps services available through redundant paths</a:t>
            </a:r>
            <a:endParaRPr lang="en-US" sz="2000" dirty="0"/>
          </a:p>
        </p:txBody>
      </p:sp>
      <p:sp>
        <p:nvSpPr>
          <p:cNvPr id="19" name="Shape 17"/>
          <p:cNvSpPr/>
          <p:nvPr/>
        </p:nvSpPr>
        <p:spPr>
          <a:xfrm>
            <a:off x="6309360" y="2688336"/>
            <a:ext cx="201168" cy="201168"/>
          </a:xfrm>
          <a:prstGeom prst="rect">
            <a:avLst/>
          </a:prstGeom>
          <a:solidFill>
            <a:srgbClr val="1F3864"/>
          </a:solidFill>
          <a:ln/>
        </p:spPr>
      </p:sp>
      <p:sp>
        <p:nvSpPr>
          <p:cNvPr id="20" name="Text 18"/>
          <p:cNvSpPr/>
          <p:nvPr/>
        </p:nvSpPr>
        <p:spPr>
          <a:xfrm>
            <a:off x="6675120" y="2587752"/>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Security</a:t>
            </a:r>
            <a:endParaRPr lang="en-US" sz="2200" dirty="0"/>
          </a:p>
        </p:txBody>
      </p:sp>
      <p:sp>
        <p:nvSpPr>
          <p:cNvPr id="21" name="Text 19"/>
          <p:cNvSpPr/>
          <p:nvPr/>
        </p:nvSpPr>
        <p:spPr>
          <a:xfrm>
            <a:off x="6675120" y="2980944"/>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Protects data using firewalls, VPNs and encryption</a:t>
            </a:r>
            <a:endParaRPr lang="en-US" sz="2000" dirty="0"/>
          </a:p>
        </p:txBody>
      </p:sp>
      <p:sp>
        <p:nvSpPr>
          <p:cNvPr id="22" name="Shape 20"/>
          <p:cNvSpPr/>
          <p:nvPr/>
        </p:nvSpPr>
        <p:spPr>
          <a:xfrm>
            <a:off x="6309360" y="3858768"/>
            <a:ext cx="201168" cy="201168"/>
          </a:xfrm>
          <a:prstGeom prst="rect">
            <a:avLst/>
          </a:prstGeom>
          <a:solidFill>
            <a:srgbClr val="1F3864"/>
          </a:solidFill>
          <a:ln/>
        </p:spPr>
      </p:sp>
      <p:sp>
        <p:nvSpPr>
          <p:cNvPr id="23" name="Text 21"/>
          <p:cNvSpPr/>
          <p:nvPr/>
        </p:nvSpPr>
        <p:spPr>
          <a:xfrm>
            <a:off x="6675120" y="3758184"/>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Performance</a:t>
            </a:r>
            <a:endParaRPr lang="en-US" sz="2200" dirty="0"/>
          </a:p>
        </p:txBody>
      </p:sp>
      <p:sp>
        <p:nvSpPr>
          <p:cNvPr id="24" name="Text 22"/>
          <p:cNvSpPr/>
          <p:nvPr/>
        </p:nvSpPr>
        <p:spPr>
          <a:xfrm>
            <a:off x="6675120" y="4151376"/>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Reduces latency for faster response times</a:t>
            </a:r>
            <a:endParaRPr lang="en-US" sz="2000" dirty="0"/>
          </a:p>
        </p:txBody>
      </p:sp>
      <p:sp>
        <p:nvSpPr>
          <p:cNvPr id="25" name="Shape 23"/>
          <p:cNvSpPr/>
          <p:nvPr/>
        </p:nvSpPr>
        <p:spPr>
          <a:xfrm>
            <a:off x="6035040" y="1463040"/>
            <a:ext cx="0" cy="4480560"/>
          </a:xfrm>
          <a:prstGeom prst="line">
            <a:avLst/>
          </a:prstGeom>
          <a:noFill/>
          <a:ln w="12700">
            <a:solidFill>
              <a:srgbClr val="BFBFBF"/>
            </a:solidFill>
            <a:prstDash val="solid"/>
          </a:ln>
        </p:spPr>
      </p:sp>
      <p:sp>
        <p:nvSpPr>
          <p:cNvPr id="26" name="Text 24"/>
          <p:cNvSpPr/>
          <p:nvPr/>
        </p:nvSpPr>
        <p:spPr>
          <a:xfrm>
            <a:off x="548640" y="6547104"/>
            <a:ext cx="7315200" cy="256032"/>
          </a:xfrm>
          <a:prstGeom prst="rect">
            <a:avLst/>
          </a:prstGeom>
          <a:noFill/>
          <a:ln/>
        </p:spPr>
        <p:txBody>
          <a:bodyPr wrap="square" rtlCol="0" anchor="ctr"/>
          <a:lstStyle/>
          <a:p>
            <a:pPr marL="0" indent="0">
              <a:buNone/>
            </a:pPr>
            <a:r>
              <a:rPr lang="en-US" sz="1000" dirty="0">
                <a:solidFill>
                  <a:srgbClr val="44546A"/>
                </a:solidFill>
                <a:latin typeface="Times New Roman" pitchFamily="34" charset="0"/>
                <a:ea typeface="Times New Roman" pitchFamily="34" charset="-122"/>
                <a:cs typeface="Times New Roman" pitchFamily="34" charset="-120"/>
              </a:rPr>
              <a:t>Role of Networking in Cloud Computing</a:t>
            </a:r>
            <a:endParaRPr lang="en-US" sz="1000" dirty="0"/>
          </a:p>
        </p:txBody>
      </p:sp>
      <p:sp>
        <p:nvSpPr>
          <p:cNvPr id="27" name="Text 25"/>
          <p:cNvSpPr/>
          <p:nvPr/>
        </p:nvSpPr>
        <p:spPr>
          <a:xfrm>
            <a:off x="11548872" y="6547104"/>
            <a:ext cx="365760" cy="256032"/>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3</a:t>
            </a:r>
            <a:endParaRPr lang="en-US" sz="1000" dirty="0"/>
          </a:p>
        </p:txBody>
      </p:sp>
      <p:pic>
        <p:nvPicPr>
          <p:cNvPr id="28" name="Picture 27" descr="A blue gear with a symbol and text&#10;&#10;AI-generated content may be incorrect.">
            <a:extLst>
              <a:ext uri="{FF2B5EF4-FFF2-40B4-BE49-F238E27FC236}">
                <a16:creationId xmlns:a16="http://schemas.microsoft.com/office/drawing/2014/main" id="{5070278D-FFE2-7576-EFB3-E5D7920B5347}"/>
              </a:ext>
            </a:extLst>
          </p:cNvPr>
          <p:cNvPicPr>
            <a:picLocks noChangeAspect="1"/>
          </p:cNvPicPr>
          <p:nvPr/>
        </p:nvPicPr>
        <p:blipFill>
          <a:blip r:embed="rId3"/>
          <a:stretch>
            <a:fillRect/>
          </a:stretch>
        </p:blipFill>
        <p:spPr>
          <a:xfrm>
            <a:off x="9892937" y="235132"/>
            <a:ext cx="1628503" cy="12191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F3864"/>
                </a:solidFill>
                <a:latin typeface="Times New Roman" pitchFamily="34" charset="0"/>
                <a:ea typeface="Times New Roman" pitchFamily="34" charset="-122"/>
                <a:cs typeface="Times New Roman" pitchFamily="34" charset="-120"/>
              </a:rPr>
              <a:t>Cloud Networking Architecture</a:t>
            </a:r>
            <a:endParaRPr lang="en-US" sz="3000" dirty="0"/>
          </a:p>
        </p:txBody>
      </p:sp>
      <p:sp>
        <p:nvSpPr>
          <p:cNvPr id="3" name="Shape 1"/>
          <p:cNvSpPr/>
          <p:nvPr/>
        </p:nvSpPr>
        <p:spPr>
          <a:xfrm>
            <a:off x="548640" y="1170432"/>
            <a:ext cx="11091672" cy="0"/>
          </a:xfrm>
          <a:prstGeom prst="line">
            <a:avLst/>
          </a:prstGeom>
          <a:noFill/>
          <a:ln w="12700">
            <a:solidFill>
              <a:srgbClr val="BFBFBF"/>
            </a:solidFill>
            <a:prstDash val="solid"/>
          </a:ln>
        </p:spPr>
      </p:sp>
      <p:sp>
        <p:nvSpPr>
          <p:cNvPr id="4" name="Shape 2"/>
          <p:cNvSpPr/>
          <p:nvPr/>
        </p:nvSpPr>
        <p:spPr>
          <a:xfrm>
            <a:off x="3076956" y="1353312"/>
            <a:ext cx="4206240" cy="384048"/>
          </a:xfrm>
          <a:prstGeom prst="roundRect">
            <a:avLst>
              <a:gd name="adj" fmla="val 14286"/>
            </a:avLst>
          </a:prstGeom>
          <a:solidFill>
            <a:srgbClr val="EEF1F6"/>
          </a:solidFill>
          <a:ln w="15875">
            <a:solidFill>
              <a:srgbClr val="1F3864"/>
            </a:solidFill>
            <a:prstDash val="solid"/>
          </a:ln>
        </p:spPr>
      </p:sp>
      <p:sp>
        <p:nvSpPr>
          <p:cNvPr id="5" name="Text 3"/>
          <p:cNvSpPr/>
          <p:nvPr/>
        </p:nvSpPr>
        <p:spPr>
          <a:xfrm>
            <a:off x="3076956" y="1353312"/>
            <a:ext cx="4206240" cy="384048"/>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itchFamily="34" charset="0"/>
                <a:ea typeface="Times New Roman" pitchFamily="34" charset="-122"/>
                <a:cs typeface="Times New Roman" pitchFamily="34" charset="-120"/>
              </a:rPr>
              <a:t>User Device</a:t>
            </a:r>
            <a:endParaRPr lang="en-US" sz="1300" dirty="0"/>
          </a:p>
        </p:txBody>
      </p:sp>
      <p:sp>
        <p:nvSpPr>
          <p:cNvPr id="6" name="Text 4"/>
          <p:cNvSpPr/>
          <p:nvPr/>
        </p:nvSpPr>
        <p:spPr>
          <a:xfrm>
            <a:off x="7603236" y="1353312"/>
            <a:ext cx="3246120" cy="384048"/>
          </a:xfrm>
          <a:prstGeom prst="rect">
            <a:avLst/>
          </a:prstGeom>
          <a:noFill/>
          <a:ln/>
        </p:spPr>
        <p:txBody>
          <a:bodyPr wrap="square" lIns="0" tIns="0" rIns="0" bIns="0" rtlCol="0" anchor="ctr"/>
          <a:lstStyle/>
          <a:p>
            <a:pPr marL="0" indent="0">
              <a:buNone/>
            </a:pPr>
            <a:r>
              <a:rPr lang="en-US" sz="1100" dirty="0">
                <a:solidFill>
                  <a:srgbClr val="44546A"/>
                </a:solidFill>
                <a:latin typeface="Times New Roman" pitchFamily="34" charset="0"/>
                <a:ea typeface="Times New Roman" pitchFamily="34" charset="-122"/>
                <a:cs typeface="Times New Roman" pitchFamily="34" charset="-120"/>
              </a:rPr>
              <a:t>Laptop, phone or desktop initiating a request</a:t>
            </a:r>
            <a:endParaRPr lang="en-US" sz="1100" dirty="0"/>
          </a:p>
        </p:txBody>
      </p:sp>
      <p:sp>
        <p:nvSpPr>
          <p:cNvPr id="7" name="Shape 5"/>
          <p:cNvSpPr/>
          <p:nvPr/>
        </p:nvSpPr>
        <p:spPr>
          <a:xfrm>
            <a:off x="5180076" y="1737360"/>
            <a:ext cx="0" cy="169164"/>
          </a:xfrm>
          <a:prstGeom prst="line">
            <a:avLst/>
          </a:prstGeom>
          <a:noFill/>
          <a:ln w="19050">
            <a:solidFill>
              <a:srgbClr val="1F3864"/>
            </a:solidFill>
            <a:prstDash val="solid"/>
            <a:tailEnd type="triangle"/>
          </a:ln>
        </p:spPr>
      </p:sp>
      <p:sp>
        <p:nvSpPr>
          <p:cNvPr id="8" name="Shape 6"/>
          <p:cNvSpPr/>
          <p:nvPr/>
        </p:nvSpPr>
        <p:spPr>
          <a:xfrm>
            <a:off x="3076956" y="1906524"/>
            <a:ext cx="4206240" cy="384048"/>
          </a:xfrm>
          <a:prstGeom prst="roundRect">
            <a:avLst>
              <a:gd name="adj" fmla="val 14286"/>
            </a:avLst>
          </a:prstGeom>
          <a:solidFill>
            <a:srgbClr val="FFFFFF"/>
          </a:solidFill>
          <a:ln w="15875">
            <a:solidFill>
              <a:srgbClr val="1F3864"/>
            </a:solidFill>
            <a:prstDash val="solid"/>
          </a:ln>
        </p:spPr>
      </p:sp>
      <p:sp>
        <p:nvSpPr>
          <p:cNvPr id="9" name="Text 7"/>
          <p:cNvSpPr/>
          <p:nvPr/>
        </p:nvSpPr>
        <p:spPr>
          <a:xfrm>
            <a:off x="3076956" y="1906524"/>
            <a:ext cx="4206240" cy="384048"/>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itchFamily="34" charset="0"/>
                <a:ea typeface="Times New Roman" pitchFamily="34" charset="-122"/>
                <a:cs typeface="Times New Roman" pitchFamily="34" charset="-120"/>
              </a:rPr>
              <a:t>Wi-Fi / Mobile Network</a:t>
            </a:r>
            <a:endParaRPr lang="en-US" sz="1300" dirty="0"/>
          </a:p>
        </p:txBody>
      </p:sp>
      <p:sp>
        <p:nvSpPr>
          <p:cNvPr id="10" name="Text 8"/>
          <p:cNvSpPr/>
          <p:nvPr/>
        </p:nvSpPr>
        <p:spPr>
          <a:xfrm>
            <a:off x="7603236" y="1906524"/>
            <a:ext cx="3246120" cy="384048"/>
          </a:xfrm>
          <a:prstGeom prst="rect">
            <a:avLst/>
          </a:prstGeom>
          <a:noFill/>
          <a:ln/>
        </p:spPr>
        <p:txBody>
          <a:bodyPr wrap="square" lIns="0" tIns="0" rIns="0" bIns="0" rtlCol="0" anchor="ctr"/>
          <a:lstStyle/>
          <a:p>
            <a:pPr marL="0" indent="0">
              <a:buNone/>
            </a:pPr>
            <a:r>
              <a:rPr lang="en-US" sz="1100" dirty="0">
                <a:solidFill>
                  <a:srgbClr val="44546A"/>
                </a:solidFill>
                <a:latin typeface="Times New Roman" pitchFamily="34" charset="0"/>
                <a:ea typeface="Times New Roman" pitchFamily="34" charset="-122"/>
                <a:cs typeface="Times New Roman" pitchFamily="34" charset="-120"/>
              </a:rPr>
              <a:t>Local wireless or cellular link to the internet</a:t>
            </a:r>
            <a:endParaRPr lang="en-US" sz="1100" dirty="0"/>
          </a:p>
        </p:txBody>
      </p:sp>
      <p:sp>
        <p:nvSpPr>
          <p:cNvPr id="11" name="Shape 9"/>
          <p:cNvSpPr/>
          <p:nvPr/>
        </p:nvSpPr>
        <p:spPr>
          <a:xfrm>
            <a:off x="5180076" y="2290572"/>
            <a:ext cx="0" cy="169164"/>
          </a:xfrm>
          <a:prstGeom prst="line">
            <a:avLst/>
          </a:prstGeom>
          <a:noFill/>
          <a:ln w="19050">
            <a:solidFill>
              <a:srgbClr val="1F3864"/>
            </a:solidFill>
            <a:prstDash val="solid"/>
            <a:tailEnd type="triangle"/>
          </a:ln>
        </p:spPr>
      </p:sp>
      <p:sp>
        <p:nvSpPr>
          <p:cNvPr id="12" name="Shape 10"/>
          <p:cNvSpPr/>
          <p:nvPr/>
        </p:nvSpPr>
        <p:spPr>
          <a:xfrm>
            <a:off x="3076956" y="2459736"/>
            <a:ext cx="4206240" cy="384048"/>
          </a:xfrm>
          <a:prstGeom prst="roundRect">
            <a:avLst>
              <a:gd name="adj" fmla="val 14286"/>
            </a:avLst>
          </a:prstGeom>
          <a:solidFill>
            <a:srgbClr val="EEF1F6"/>
          </a:solidFill>
          <a:ln w="15875">
            <a:solidFill>
              <a:srgbClr val="1F3864"/>
            </a:solidFill>
            <a:prstDash val="solid"/>
          </a:ln>
        </p:spPr>
      </p:sp>
      <p:sp>
        <p:nvSpPr>
          <p:cNvPr id="13" name="Text 11"/>
          <p:cNvSpPr/>
          <p:nvPr/>
        </p:nvSpPr>
        <p:spPr>
          <a:xfrm>
            <a:off x="3076956" y="2459736"/>
            <a:ext cx="4206240" cy="384048"/>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itchFamily="34" charset="0"/>
                <a:ea typeface="Times New Roman" pitchFamily="34" charset="-122"/>
                <a:cs typeface="Times New Roman" pitchFamily="34" charset="-120"/>
              </a:rPr>
              <a:t>Internet</a:t>
            </a:r>
            <a:endParaRPr lang="en-US" sz="1300" dirty="0"/>
          </a:p>
        </p:txBody>
      </p:sp>
      <p:sp>
        <p:nvSpPr>
          <p:cNvPr id="14" name="Text 12"/>
          <p:cNvSpPr/>
          <p:nvPr/>
        </p:nvSpPr>
        <p:spPr>
          <a:xfrm>
            <a:off x="7603236" y="2459736"/>
            <a:ext cx="3246120" cy="384048"/>
          </a:xfrm>
          <a:prstGeom prst="rect">
            <a:avLst/>
          </a:prstGeom>
          <a:noFill/>
          <a:ln/>
        </p:spPr>
        <p:txBody>
          <a:bodyPr wrap="square" lIns="0" tIns="0" rIns="0" bIns="0" rtlCol="0" anchor="ctr"/>
          <a:lstStyle/>
          <a:p>
            <a:pPr marL="0" indent="0">
              <a:buNone/>
            </a:pPr>
            <a:r>
              <a:rPr lang="en-US" sz="1100" dirty="0">
                <a:solidFill>
                  <a:srgbClr val="44546A"/>
                </a:solidFill>
                <a:latin typeface="Times New Roman" pitchFamily="34" charset="0"/>
                <a:ea typeface="Times New Roman" pitchFamily="34" charset="-122"/>
                <a:cs typeface="Times New Roman" pitchFamily="34" charset="-120"/>
              </a:rPr>
              <a:t>Global network of interconnected networks</a:t>
            </a:r>
            <a:endParaRPr lang="en-US" sz="1100" dirty="0"/>
          </a:p>
        </p:txBody>
      </p:sp>
      <p:sp>
        <p:nvSpPr>
          <p:cNvPr id="15" name="Shape 13"/>
          <p:cNvSpPr/>
          <p:nvPr/>
        </p:nvSpPr>
        <p:spPr>
          <a:xfrm>
            <a:off x="5180076" y="2843784"/>
            <a:ext cx="0" cy="169164"/>
          </a:xfrm>
          <a:prstGeom prst="line">
            <a:avLst/>
          </a:prstGeom>
          <a:noFill/>
          <a:ln w="19050">
            <a:solidFill>
              <a:srgbClr val="1F3864"/>
            </a:solidFill>
            <a:prstDash val="solid"/>
            <a:tailEnd type="triangle"/>
          </a:ln>
        </p:spPr>
      </p:sp>
      <p:sp>
        <p:nvSpPr>
          <p:cNvPr id="16" name="Shape 14"/>
          <p:cNvSpPr/>
          <p:nvPr/>
        </p:nvSpPr>
        <p:spPr>
          <a:xfrm>
            <a:off x="3076956" y="3012948"/>
            <a:ext cx="4206240" cy="384048"/>
          </a:xfrm>
          <a:prstGeom prst="roundRect">
            <a:avLst>
              <a:gd name="adj" fmla="val 14286"/>
            </a:avLst>
          </a:prstGeom>
          <a:solidFill>
            <a:srgbClr val="FFFFFF"/>
          </a:solidFill>
          <a:ln w="15875">
            <a:solidFill>
              <a:srgbClr val="1F3864"/>
            </a:solidFill>
            <a:prstDash val="solid"/>
          </a:ln>
        </p:spPr>
      </p:sp>
      <p:sp>
        <p:nvSpPr>
          <p:cNvPr id="17" name="Text 15"/>
          <p:cNvSpPr/>
          <p:nvPr/>
        </p:nvSpPr>
        <p:spPr>
          <a:xfrm>
            <a:off x="3076956" y="3012948"/>
            <a:ext cx="4206240" cy="384048"/>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itchFamily="34" charset="0"/>
                <a:ea typeface="Times New Roman" pitchFamily="34" charset="-122"/>
                <a:cs typeface="Times New Roman" pitchFamily="34" charset="-120"/>
              </a:rPr>
              <a:t>DNS</a:t>
            </a:r>
            <a:endParaRPr lang="en-US" sz="1300" dirty="0"/>
          </a:p>
        </p:txBody>
      </p:sp>
      <p:sp>
        <p:nvSpPr>
          <p:cNvPr id="18" name="Text 16"/>
          <p:cNvSpPr/>
          <p:nvPr/>
        </p:nvSpPr>
        <p:spPr>
          <a:xfrm>
            <a:off x="7603236" y="3012948"/>
            <a:ext cx="3246120" cy="384048"/>
          </a:xfrm>
          <a:prstGeom prst="rect">
            <a:avLst/>
          </a:prstGeom>
          <a:noFill/>
          <a:ln/>
        </p:spPr>
        <p:txBody>
          <a:bodyPr wrap="square" lIns="0" tIns="0" rIns="0" bIns="0" rtlCol="0" anchor="ctr"/>
          <a:lstStyle/>
          <a:p>
            <a:pPr marL="0" indent="0">
              <a:buNone/>
            </a:pPr>
            <a:r>
              <a:rPr lang="en-US" sz="1100" dirty="0">
                <a:solidFill>
                  <a:srgbClr val="44546A"/>
                </a:solidFill>
                <a:latin typeface="Times New Roman" pitchFamily="34" charset="0"/>
                <a:ea typeface="Times New Roman" pitchFamily="34" charset="-122"/>
                <a:cs typeface="Times New Roman" pitchFamily="34" charset="-120"/>
              </a:rPr>
              <a:t>Resolves the domain name to a server IP address</a:t>
            </a:r>
            <a:endParaRPr lang="en-US" sz="1100" dirty="0"/>
          </a:p>
        </p:txBody>
      </p:sp>
      <p:sp>
        <p:nvSpPr>
          <p:cNvPr id="19" name="Shape 17"/>
          <p:cNvSpPr/>
          <p:nvPr/>
        </p:nvSpPr>
        <p:spPr>
          <a:xfrm>
            <a:off x="5180076" y="3396996"/>
            <a:ext cx="0" cy="169164"/>
          </a:xfrm>
          <a:prstGeom prst="line">
            <a:avLst/>
          </a:prstGeom>
          <a:noFill/>
          <a:ln w="19050">
            <a:solidFill>
              <a:srgbClr val="1F3864"/>
            </a:solidFill>
            <a:prstDash val="solid"/>
            <a:tailEnd type="triangle"/>
          </a:ln>
        </p:spPr>
      </p:sp>
      <p:sp>
        <p:nvSpPr>
          <p:cNvPr id="20" name="Shape 18"/>
          <p:cNvSpPr/>
          <p:nvPr/>
        </p:nvSpPr>
        <p:spPr>
          <a:xfrm>
            <a:off x="3076956" y="3566160"/>
            <a:ext cx="4206240" cy="384048"/>
          </a:xfrm>
          <a:prstGeom prst="roundRect">
            <a:avLst>
              <a:gd name="adj" fmla="val 14286"/>
            </a:avLst>
          </a:prstGeom>
          <a:solidFill>
            <a:srgbClr val="EEF1F6"/>
          </a:solidFill>
          <a:ln w="15875">
            <a:solidFill>
              <a:srgbClr val="1F3864"/>
            </a:solidFill>
            <a:prstDash val="solid"/>
          </a:ln>
        </p:spPr>
      </p:sp>
      <p:sp>
        <p:nvSpPr>
          <p:cNvPr id="21" name="Text 19"/>
          <p:cNvSpPr/>
          <p:nvPr/>
        </p:nvSpPr>
        <p:spPr>
          <a:xfrm>
            <a:off x="3076956" y="3566160"/>
            <a:ext cx="4206240" cy="384048"/>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itchFamily="34" charset="0"/>
                <a:ea typeface="Times New Roman" pitchFamily="34" charset="-122"/>
                <a:cs typeface="Times New Roman" pitchFamily="34" charset="-120"/>
              </a:rPr>
              <a:t>Firewall</a:t>
            </a:r>
            <a:endParaRPr lang="en-US" sz="1300" dirty="0"/>
          </a:p>
        </p:txBody>
      </p:sp>
      <p:sp>
        <p:nvSpPr>
          <p:cNvPr id="22" name="Text 20"/>
          <p:cNvSpPr/>
          <p:nvPr/>
        </p:nvSpPr>
        <p:spPr>
          <a:xfrm>
            <a:off x="7603236" y="3566160"/>
            <a:ext cx="3246120" cy="384048"/>
          </a:xfrm>
          <a:prstGeom prst="rect">
            <a:avLst/>
          </a:prstGeom>
          <a:noFill/>
          <a:ln/>
        </p:spPr>
        <p:txBody>
          <a:bodyPr wrap="square" lIns="0" tIns="0" rIns="0" bIns="0" rtlCol="0" anchor="ctr"/>
          <a:lstStyle/>
          <a:p>
            <a:pPr marL="0" indent="0">
              <a:buNone/>
            </a:pPr>
            <a:r>
              <a:rPr lang="en-US" sz="1100" dirty="0">
                <a:solidFill>
                  <a:srgbClr val="44546A"/>
                </a:solidFill>
                <a:latin typeface="Times New Roman" pitchFamily="34" charset="0"/>
                <a:ea typeface="Times New Roman" pitchFamily="34" charset="-122"/>
                <a:cs typeface="Times New Roman" pitchFamily="34" charset="-120"/>
              </a:rPr>
              <a:t>Filters traffic and blocks unauthorised access</a:t>
            </a:r>
            <a:endParaRPr lang="en-US" sz="1100" dirty="0"/>
          </a:p>
        </p:txBody>
      </p:sp>
      <p:sp>
        <p:nvSpPr>
          <p:cNvPr id="23" name="Shape 21"/>
          <p:cNvSpPr/>
          <p:nvPr/>
        </p:nvSpPr>
        <p:spPr>
          <a:xfrm>
            <a:off x="5180076" y="3950208"/>
            <a:ext cx="0" cy="169164"/>
          </a:xfrm>
          <a:prstGeom prst="line">
            <a:avLst/>
          </a:prstGeom>
          <a:noFill/>
          <a:ln w="19050">
            <a:solidFill>
              <a:srgbClr val="1F3864"/>
            </a:solidFill>
            <a:prstDash val="solid"/>
            <a:tailEnd type="triangle"/>
          </a:ln>
        </p:spPr>
      </p:sp>
      <p:sp>
        <p:nvSpPr>
          <p:cNvPr id="24" name="Shape 22"/>
          <p:cNvSpPr/>
          <p:nvPr/>
        </p:nvSpPr>
        <p:spPr>
          <a:xfrm>
            <a:off x="3076956" y="4119372"/>
            <a:ext cx="4206240" cy="384048"/>
          </a:xfrm>
          <a:prstGeom prst="roundRect">
            <a:avLst>
              <a:gd name="adj" fmla="val 14286"/>
            </a:avLst>
          </a:prstGeom>
          <a:solidFill>
            <a:srgbClr val="FFFFFF"/>
          </a:solidFill>
          <a:ln w="15875">
            <a:solidFill>
              <a:srgbClr val="1F3864"/>
            </a:solidFill>
            <a:prstDash val="solid"/>
          </a:ln>
        </p:spPr>
      </p:sp>
      <p:sp>
        <p:nvSpPr>
          <p:cNvPr id="25" name="Text 23"/>
          <p:cNvSpPr/>
          <p:nvPr/>
        </p:nvSpPr>
        <p:spPr>
          <a:xfrm>
            <a:off x="3076956" y="4119372"/>
            <a:ext cx="4206240" cy="384048"/>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itchFamily="34" charset="0"/>
                <a:ea typeface="Times New Roman" pitchFamily="34" charset="-122"/>
                <a:cs typeface="Times New Roman" pitchFamily="34" charset="-120"/>
              </a:rPr>
              <a:t>Load Balancer</a:t>
            </a:r>
            <a:endParaRPr lang="en-US" sz="1300" dirty="0"/>
          </a:p>
        </p:txBody>
      </p:sp>
      <p:sp>
        <p:nvSpPr>
          <p:cNvPr id="26" name="Text 24"/>
          <p:cNvSpPr/>
          <p:nvPr/>
        </p:nvSpPr>
        <p:spPr>
          <a:xfrm>
            <a:off x="7603236" y="4119372"/>
            <a:ext cx="3246120" cy="384048"/>
          </a:xfrm>
          <a:prstGeom prst="rect">
            <a:avLst/>
          </a:prstGeom>
          <a:noFill/>
          <a:ln/>
        </p:spPr>
        <p:txBody>
          <a:bodyPr wrap="square" lIns="0" tIns="0" rIns="0" bIns="0" rtlCol="0" anchor="ctr"/>
          <a:lstStyle/>
          <a:p>
            <a:pPr marL="0" indent="0">
              <a:buNone/>
            </a:pPr>
            <a:r>
              <a:rPr lang="en-US" sz="1100" dirty="0">
                <a:solidFill>
                  <a:srgbClr val="44546A"/>
                </a:solidFill>
                <a:latin typeface="Times New Roman" pitchFamily="34" charset="0"/>
                <a:ea typeface="Times New Roman" pitchFamily="34" charset="-122"/>
                <a:cs typeface="Times New Roman" pitchFamily="34" charset="-120"/>
              </a:rPr>
              <a:t>Distributes incoming requests across servers</a:t>
            </a:r>
            <a:endParaRPr lang="en-US" sz="1100" dirty="0"/>
          </a:p>
        </p:txBody>
      </p:sp>
      <p:sp>
        <p:nvSpPr>
          <p:cNvPr id="27" name="Shape 25"/>
          <p:cNvSpPr/>
          <p:nvPr/>
        </p:nvSpPr>
        <p:spPr>
          <a:xfrm>
            <a:off x="5180076" y="4503420"/>
            <a:ext cx="0" cy="169164"/>
          </a:xfrm>
          <a:prstGeom prst="line">
            <a:avLst/>
          </a:prstGeom>
          <a:noFill/>
          <a:ln w="19050">
            <a:solidFill>
              <a:srgbClr val="1F3864"/>
            </a:solidFill>
            <a:prstDash val="solid"/>
            <a:tailEnd type="triangle"/>
          </a:ln>
        </p:spPr>
      </p:sp>
      <p:sp>
        <p:nvSpPr>
          <p:cNvPr id="28" name="Shape 26"/>
          <p:cNvSpPr/>
          <p:nvPr/>
        </p:nvSpPr>
        <p:spPr>
          <a:xfrm>
            <a:off x="3076956" y="4672584"/>
            <a:ext cx="4206240" cy="384048"/>
          </a:xfrm>
          <a:prstGeom prst="roundRect">
            <a:avLst>
              <a:gd name="adj" fmla="val 14286"/>
            </a:avLst>
          </a:prstGeom>
          <a:solidFill>
            <a:srgbClr val="EEF1F6"/>
          </a:solidFill>
          <a:ln w="15875">
            <a:solidFill>
              <a:srgbClr val="1F3864"/>
            </a:solidFill>
            <a:prstDash val="solid"/>
          </a:ln>
        </p:spPr>
      </p:sp>
      <p:sp>
        <p:nvSpPr>
          <p:cNvPr id="29" name="Text 27"/>
          <p:cNvSpPr/>
          <p:nvPr/>
        </p:nvSpPr>
        <p:spPr>
          <a:xfrm>
            <a:off x="3076956" y="4672584"/>
            <a:ext cx="4206240" cy="384048"/>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itchFamily="34" charset="0"/>
                <a:ea typeface="Times New Roman" pitchFamily="34" charset="-122"/>
                <a:cs typeface="Times New Roman" pitchFamily="34" charset="-120"/>
              </a:rPr>
              <a:t>Cloud Data Centre</a:t>
            </a:r>
            <a:endParaRPr lang="en-US" sz="1300" dirty="0"/>
          </a:p>
        </p:txBody>
      </p:sp>
      <p:sp>
        <p:nvSpPr>
          <p:cNvPr id="30" name="Text 28"/>
          <p:cNvSpPr/>
          <p:nvPr/>
        </p:nvSpPr>
        <p:spPr>
          <a:xfrm>
            <a:off x="7603236" y="4672584"/>
            <a:ext cx="3246120" cy="384048"/>
          </a:xfrm>
          <a:prstGeom prst="rect">
            <a:avLst/>
          </a:prstGeom>
          <a:noFill/>
          <a:ln/>
        </p:spPr>
        <p:txBody>
          <a:bodyPr wrap="square" lIns="0" tIns="0" rIns="0" bIns="0" rtlCol="0" anchor="ctr"/>
          <a:lstStyle/>
          <a:p>
            <a:pPr marL="0" indent="0">
              <a:buNone/>
            </a:pPr>
            <a:r>
              <a:rPr lang="en-US" sz="1100" dirty="0">
                <a:solidFill>
                  <a:srgbClr val="44546A"/>
                </a:solidFill>
                <a:latin typeface="Times New Roman" pitchFamily="34" charset="0"/>
                <a:ea typeface="Times New Roman" pitchFamily="34" charset="-122"/>
                <a:cs typeface="Times New Roman" pitchFamily="34" charset="-120"/>
              </a:rPr>
              <a:t>Physical facility hosting cloud infrastructure</a:t>
            </a:r>
            <a:endParaRPr lang="en-US" sz="1100" dirty="0"/>
          </a:p>
        </p:txBody>
      </p:sp>
      <p:sp>
        <p:nvSpPr>
          <p:cNvPr id="31" name="Shape 29"/>
          <p:cNvSpPr/>
          <p:nvPr/>
        </p:nvSpPr>
        <p:spPr>
          <a:xfrm>
            <a:off x="5180076" y="5056632"/>
            <a:ext cx="0" cy="169164"/>
          </a:xfrm>
          <a:prstGeom prst="line">
            <a:avLst/>
          </a:prstGeom>
          <a:noFill/>
          <a:ln w="19050">
            <a:solidFill>
              <a:srgbClr val="1F3864"/>
            </a:solidFill>
            <a:prstDash val="solid"/>
            <a:tailEnd type="triangle"/>
          </a:ln>
        </p:spPr>
      </p:sp>
      <p:sp>
        <p:nvSpPr>
          <p:cNvPr id="32" name="Shape 30"/>
          <p:cNvSpPr/>
          <p:nvPr/>
        </p:nvSpPr>
        <p:spPr>
          <a:xfrm>
            <a:off x="3076956" y="5225796"/>
            <a:ext cx="4206240" cy="384048"/>
          </a:xfrm>
          <a:prstGeom prst="roundRect">
            <a:avLst>
              <a:gd name="adj" fmla="val 14286"/>
            </a:avLst>
          </a:prstGeom>
          <a:solidFill>
            <a:srgbClr val="FFFFFF"/>
          </a:solidFill>
          <a:ln w="15875">
            <a:solidFill>
              <a:srgbClr val="1F3864"/>
            </a:solidFill>
            <a:prstDash val="solid"/>
          </a:ln>
        </p:spPr>
      </p:sp>
      <p:sp>
        <p:nvSpPr>
          <p:cNvPr id="33" name="Text 31"/>
          <p:cNvSpPr/>
          <p:nvPr/>
        </p:nvSpPr>
        <p:spPr>
          <a:xfrm>
            <a:off x="3076956" y="5225796"/>
            <a:ext cx="4206240" cy="384048"/>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itchFamily="34" charset="0"/>
                <a:ea typeface="Times New Roman" pitchFamily="34" charset="-122"/>
                <a:cs typeface="Times New Roman" pitchFamily="34" charset="-120"/>
              </a:rPr>
              <a:t>Virtual Machines</a:t>
            </a:r>
            <a:endParaRPr lang="en-US" sz="1300" dirty="0"/>
          </a:p>
        </p:txBody>
      </p:sp>
      <p:sp>
        <p:nvSpPr>
          <p:cNvPr id="34" name="Text 32"/>
          <p:cNvSpPr/>
          <p:nvPr/>
        </p:nvSpPr>
        <p:spPr>
          <a:xfrm>
            <a:off x="7603236" y="5225796"/>
            <a:ext cx="3246120" cy="384048"/>
          </a:xfrm>
          <a:prstGeom prst="rect">
            <a:avLst/>
          </a:prstGeom>
          <a:noFill/>
          <a:ln/>
        </p:spPr>
        <p:txBody>
          <a:bodyPr wrap="square" lIns="0" tIns="0" rIns="0" bIns="0" rtlCol="0" anchor="ctr"/>
          <a:lstStyle/>
          <a:p>
            <a:pPr marL="0" indent="0">
              <a:buNone/>
            </a:pPr>
            <a:r>
              <a:rPr lang="en-US" sz="1100" dirty="0">
                <a:solidFill>
                  <a:srgbClr val="44546A"/>
                </a:solidFill>
                <a:latin typeface="Times New Roman" pitchFamily="34" charset="0"/>
                <a:ea typeface="Times New Roman" pitchFamily="34" charset="-122"/>
                <a:cs typeface="Times New Roman" pitchFamily="34" charset="-120"/>
              </a:rPr>
              <a:t>Compute instances that run the application</a:t>
            </a:r>
            <a:endParaRPr lang="en-US" sz="1100" dirty="0"/>
          </a:p>
        </p:txBody>
      </p:sp>
      <p:sp>
        <p:nvSpPr>
          <p:cNvPr id="35" name="Shape 33"/>
          <p:cNvSpPr/>
          <p:nvPr/>
        </p:nvSpPr>
        <p:spPr>
          <a:xfrm>
            <a:off x="5180076" y="5609844"/>
            <a:ext cx="0" cy="169164"/>
          </a:xfrm>
          <a:prstGeom prst="line">
            <a:avLst/>
          </a:prstGeom>
          <a:noFill/>
          <a:ln w="19050">
            <a:solidFill>
              <a:srgbClr val="1F3864"/>
            </a:solidFill>
            <a:prstDash val="solid"/>
            <a:tailEnd type="triangle"/>
          </a:ln>
        </p:spPr>
      </p:sp>
      <p:sp>
        <p:nvSpPr>
          <p:cNvPr id="36" name="Shape 34"/>
          <p:cNvSpPr/>
          <p:nvPr/>
        </p:nvSpPr>
        <p:spPr>
          <a:xfrm>
            <a:off x="3076956" y="5779008"/>
            <a:ext cx="4206240" cy="384048"/>
          </a:xfrm>
          <a:prstGeom prst="roundRect">
            <a:avLst>
              <a:gd name="adj" fmla="val 14286"/>
            </a:avLst>
          </a:prstGeom>
          <a:solidFill>
            <a:srgbClr val="EEF1F6"/>
          </a:solidFill>
          <a:ln w="15875">
            <a:solidFill>
              <a:srgbClr val="1F3864"/>
            </a:solidFill>
            <a:prstDash val="solid"/>
          </a:ln>
        </p:spPr>
      </p:sp>
      <p:sp>
        <p:nvSpPr>
          <p:cNvPr id="37" name="Text 35"/>
          <p:cNvSpPr/>
          <p:nvPr/>
        </p:nvSpPr>
        <p:spPr>
          <a:xfrm>
            <a:off x="3076956" y="5779008"/>
            <a:ext cx="4206240" cy="384048"/>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itchFamily="34" charset="0"/>
                <a:ea typeface="Times New Roman" pitchFamily="34" charset="-122"/>
                <a:cs typeface="Times New Roman" pitchFamily="34" charset="-120"/>
              </a:rPr>
              <a:t>Database</a:t>
            </a:r>
            <a:endParaRPr lang="en-US" sz="1300" dirty="0"/>
          </a:p>
        </p:txBody>
      </p:sp>
      <p:sp>
        <p:nvSpPr>
          <p:cNvPr id="38" name="Text 36"/>
          <p:cNvSpPr/>
          <p:nvPr/>
        </p:nvSpPr>
        <p:spPr>
          <a:xfrm>
            <a:off x="7603236" y="5779008"/>
            <a:ext cx="3246120" cy="384048"/>
          </a:xfrm>
          <a:prstGeom prst="rect">
            <a:avLst/>
          </a:prstGeom>
          <a:noFill/>
          <a:ln/>
        </p:spPr>
        <p:txBody>
          <a:bodyPr wrap="square" lIns="0" tIns="0" rIns="0" bIns="0" rtlCol="0" anchor="ctr"/>
          <a:lstStyle/>
          <a:p>
            <a:pPr marL="0" indent="0">
              <a:buNone/>
            </a:pPr>
            <a:r>
              <a:rPr lang="en-US" sz="1100" dirty="0">
                <a:solidFill>
                  <a:srgbClr val="44546A"/>
                </a:solidFill>
                <a:latin typeface="Times New Roman" pitchFamily="34" charset="0"/>
                <a:ea typeface="Times New Roman" pitchFamily="34" charset="-122"/>
                <a:cs typeface="Times New Roman" pitchFamily="34" charset="-120"/>
              </a:rPr>
              <a:t>Stores and manages structured application data</a:t>
            </a:r>
            <a:endParaRPr lang="en-US" sz="1100" dirty="0"/>
          </a:p>
        </p:txBody>
      </p:sp>
      <p:sp>
        <p:nvSpPr>
          <p:cNvPr id="39" name="Shape 37"/>
          <p:cNvSpPr/>
          <p:nvPr/>
        </p:nvSpPr>
        <p:spPr>
          <a:xfrm>
            <a:off x="5180076" y="6163056"/>
            <a:ext cx="0" cy="169164"/>
          </a:xfrm>
          <a:prstGeom prst="line">
            <a:avLst/>
          </a:prstGeom>
          <a:noFill/>
          <a:ln w="19050">
            <a:solidFill>
              <a:srgbClr val="1F3864"/>
            </a:solidFill>
            <a:prstDash val="solid"/>
            <a:tailEnd type="triangle"/>
          </a:ln>
        </p:spPr>
      </p:sp>
      <p:sp>
        <p:nvSpPr>
          <p:cNvPr id="40" name="Shape 38"/>
          <p:cNvSpPr/>
          <p:nvPr/>
        </p:nvSpPr>
        <p:spPr>
          <a:xfrm>
            <a:off x="3076956" y="6332220"/>
            <a:ext cx="4206240" cy="384048"/>
          </a:xfrm>
          <a:prstGeom prst="roundRect">
            <a:avLst>
              <a:gd name="adj" fmla="val 14286"/>
            </a:avLst>
          </a:prstGeom>
          <a:solidFill>
            <a:srgbClr val="FFFFFF"/>
          </a:solidFill>
          <a:ln w="15875">
            <a:solidFill>
              <a:srgbClr val="1F3864"/>
            </a:solidFill>
            <a:prstDash val="solid"/>
          </a:ln>
        </p:spPr>
      </p:sp>
      <p:sp>
        <p:nvSpPr>
          <p:cNvPr id="41" name="Text 39"/>
          <p:cNvSpPr/>
          <p:nvPr/>
        </p:nvSpPr>
        <p:spPr>
          <a:xfrm>
            <a:off x="3076956" y="6332220"/>
            <a:ext cx="4206240" cy="384048"/>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itchFamily="34" charset="0"/>
                <a:ea typeface="Times New Roman" pitchFamily="34" charset="-122"/>
                <a:cs typeface="Times New Roman" pitchFamily="34" charset="-120"/>
              </a:rPr>
              <a:t>Cloud Storage</a:t>
            </a:r>
            <a:endParaRPr lang="en-US" sz="1300" dirty="0"/>
          </a:p>
        </p:txBody>
      </p:sp>
      <p:sp>
        <p:nvSpPr>
          <p:cNvPr id="42" name="Text 40"/>
          <p:cNvSpPr/>
          <p:nvPr/>
        </p:nvSpPr>
        <p:spPr>
          <a:xfrm>
            <a:off x="7603236" y="6332220"/>
            <a:ext cx="3246120" cy="384048"/>
          </a:xfrm>
          <a:prstGeom prst="rect">
            <a:avLst/>
          </a:prstGeom>
          <a:noFill/>
          <a:ln/>
        </p:spPr>
        <p:txBody>
          <a:bodyPr wrap="square" lIns="0" tIns="0" rIns="0" bIns="0" rtlCol="0" anchor="ctr"/>
          <a:lstStyle/>
          <a:p>
            <a:pPr marL="0" indent="0">
              <a:buNone/>
            </a:pPr>
            <a:r>
              <a:rPr lang="en-US" sz="1100" dirty="0">
                <a:solidFill>
                  <a:srgbClr val="44546A"/>
                </a:solidFill>
                <a:latin typeface="Times New Roman" pitchFamily="34" charset="0"/>
                <a:ea typeface="Times New Roman" pitchFamily="34" charset="-122"/>
                <a:cs typeface="Times New Roman" pitchFamily="34" charset="-120"/>
              </a:rPr>
              <a:t>Stores files, backups and static objects</a:t>
            </a:r>
            <a:endParaRPr lang="en-US" sz="1100" dirty="0"/>
          </a:p>
        </p:txBody>
      </p:sp>
      <p:sp>
        <p:nvSpPr>
          <p:cNvPr id="43" name="Text 41"/>
          <p:cNvSpPr/>
          <p:nvPr/>
        </p:nvSpPr>
        <p:spPr>
          <a:xfrm>
            <a:off x="548640" y="6547104"/>
            <a:ext cx="7315200" cy="256032"/>
          </a:xfrm>
          <a:prstGeom prst="rect">
            <a:avLst/>
          </a:prstGeom>
          <a:noFill/>
          <a:ln/>
        </p:spPr>
        <p:txBody>
          <a:bodyPr wrap="square" rtlCol="0" anchor="ctr"/>
          <a:lstStyle/>
          <a:p>
            <a:pPr marL="0" indent="0">
              <a:buNone/>
            </a:pPr>
            <a:r>
              <a:rPr lang="en-US" sz="1000" dirty="0">
                <a:solidFill>
                  <a:srgbClr val="44546A"/>
                </a:solidFill>
                <a:latin typeface="Times New Roman" pitchFamily="34" charset="0"/>
                <a:ea typeface="Times New Roman" pitchFamily="34" charset="-122"/>
                <a:cs typeface="Times New Roman" pitchFamily="34" charset="-120"/>
              </a:rPr>
              <a:t>Role of Networking in Cloud Computing</a:t>
            </a:r>
            <a:endParaRPr lang="en-US" sz="1000" dirty="0"/>
          </a:p>
        </p:txBody>
      </p:sp>
      <p:sp>
        <p:nvSpPr>
          <p:cNvPr id="44" name="Text 42"/>
          <p:cNvSpPr/>
          <p:nvPr/>
        </p:nvSpPr>
        <p:spPr>
          <a:xfrm>
            <a:off x="11548872" y="6547104"/>
            <a:ext cx="365760" cy="256032"/>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4</a:t>
            </a:r>
            <a:endParaRPr lang="en-US" sz="1000" dirty="0"/>
          </a:p>
        </p:txBody>
      </p:sp>
      <p:pic>
        <p:nvPicPr>
          <p:cNvPr id="45" name="Picture 44" descr="A blue gear with a symbol and text&#10;&#10;AI-generated content may be incorrect.">
            <a:extLst>
              <a:ext uri="{FF2B5EF4-FFF2-40B4-BE49-F238E27FC236}">
                <a16:creationId xmlns:a16="http://schemas.microsoft.com/office/drawing/2014/main" id="{FF1F1CA0-A960-F25D-EDE8-BF37AD4BBAD9}"/>
              </a:ext>
            </a:extLst>
          </p:cNvPr>
          <p:cNvPicPr>
            <a:picLocks noChangeAspect="1"/>
          </p:cNvPicPr>
          <p:nvPr/>
        </p:nvPicPr>
        <p:blipFill>
          <a:blip r:embed="rId3"/>
          <a:stretch>
            <a:fillRect/>
          </a:stretch>
        </p:blipFill>
        <p:spPr>
          <a:xfrm>
            <a:off x="9892937" y="235132"/>
            <a:ext cx="1628503" cy="12191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F3864"/>
                </a:solidFill>
                <a:latin typeface="Times New Roman" pitchFamily="34" charset="0"/>
                <a:ea typeface="Times New Roman" pitchFamily="34" charset="-122"/>
                <a:cs typeface="Times New Roman" pitchFamily="34" charset="-120"/>
              </a:rPr>
              <a:t>Key Networking Components</a:t>
            </a:r>
            <a:endParaRPr lang="en-US" sz="3000" dirty="0"/>
          </a:p>
        </p:txBody>
      </p:sp>
      <p:sp>
        <p:nvSpPr>
          <p:cNvPr id="3" name="Shape 1"/>
          <p:cNvSpPr/>
          <p:nvPr/>
        </p:nvSpPr>
        <p:spPr>
          <a:xfrm>
            <a:off x="548640" y="1170432"/>
            <a:ext cx="11091672" cy="0"/>
          </a:xfrm>
          <a:prstGeom prst="line">
            <a:avLst/>
          </a:prstGeom>
          <a:noFill/>
          <a:ln w="12700">
            <a:solidFill>
              <a:srgbClr val="BFBFBF"/>
            </a:solidFill>
            <a:prstDash val="solid"/>
          </a:ln>
        </p:spPr>
      </p:sp>
      <p:sp>
        <p:nvSpPr>
          <p:cNvPr id="4" name="Shape 2"/>
          <p:cNvSpPr/>
          <p:nvPr/>
        </p:nvSpPr>
        <p:spPr>
          <a:xfrm>
            <a:off x="640080" y="1453896"/>
            <a:ext cx="201168" cy="201168"/>
          </a:xfrm>
          <a:prstGeom prst="rect">
            <a:avLst/>
          </a:prstGeom>
          <a:solidFill>
            <a:srgbClr val="1F3864"/>
          </a:solidFill>
          <a:ln/>
        </p:spPr>
      </p:sp>
      <p:sp>
        <p:nvSpPr>
          <p:cNvPr id="5" name="Text 3"/>
          <p:cNvSpPr/>
          <p:nvPr/>
        </p:nvSpPr>
        <p:spPr>
          <a:xfrm>
            <a:off x="1005840" y="1344168"/>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Internet</a:t>
            </a:r>
            <a:endParaRPr lang="en-US" sz="2200" dirty="0"/>
          </a:p>
        </p:txBody>
      </p:sp>
      <p:sp>
        <p:nvSpPr>
          <p:cNvPr id="6" name="Text 4"/>
          <p:cNvSpPr/>
          <p:nvPr/>
        </p:nvSpPr>
        <p:spPr>
          <a:xfrm>
            <a:off x="1005840" y="1709928"/>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Global network connecting cloud users and servers</a:t>
            </a:r>
            <a:endParaRPr lang="en-US" sz="2000" dirty="0"/>
          </a:p>
        </p:txBody>
      </p:sp>
      <p:sp>
        <p:nvSpPr>
          <p:cNvPr id="7" name="Shape 5"/>
          <p:cNvSpPr/>
          <p:nvPr/>
        </p:nvSpPr>
        <p:spPr>
          <a:xfrm>
            <a:off x="640080" y="2514600"/>
            <a:ext cx="201168" cy="201168"/>
          </a:xfrm>
          <a:prstGeom prst="rect">
            <a:avLst/>
          </a:prstGeom>
          <a:solidFill>
            <a:srgbClr val="1F3864"/>
          </a:solidFill>
          <a:ln/>
        </p:spPr>
      </p:sp>
      <p:sp>
        <p:nvSpPr>
          <p:cNvPr id="8" name="Text 6"/>
          <p:cNvSpPr/>
          <p:nvPr/>
        </p:nvSpPr>
        <p:spPr>
          <a:xfrm>
            <a:off x="1005840" y="2404872"/>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Router</a:t>
            </a:r>
            <a:endParaRPr lang="en-US" sz="2200" dirty="0"/>
          </a:p>
        </p:txBody>
      </p:sp>
      <p:sp>
        <p:nvSpPr>
          <p:cNvPr id="9" name="Text 7"/>
          <p:cNvSpPr/>
          <p:nvPr/>
        </p:nvSpPr>
        <p:spPr>
          <a:xfrm>
            <a:off x="1005840" y="2770632"/>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Directs data packets between different networks</a:t>
            </a:r>
            <a:endParaRPr lang="en-US" sz="2000" dirty="0"/>
          </a:p>
        </p:txBody>
      </p:sp>
      <p:sp>
        <p:nvSpPr>
          <p:cNvPr id="10" name="Shape 8"/>
          <p:cNvSpPr/>
          <p:nvPr/>
        </p:nvSpPr>
        <p:spPr>
          <a:xfrm>
            <a:off x="640080" y="3575304"/>
            <a:ext cx="201168" cy="201168"/>
          </a:xfrm>
          <a:prstGeom prst="rect">
            <a:avLst/>
          </a:prstGeom>
          <a:solidFill>
            <a:srgbClr val="1F3864"/>
          </a:solidFill>
          <a:ln/>
        </p:spPr>
      </p:sp>
      <p:sp>
        <p:nvSpPr>
          <p:cNvPr id="11" name="Text 9"/>
          <p:cNvSpPr/>
          <p:nvPr/>
        </p:nvSpPr>
        <p:spPr>
          <a:xfrm>
            <a:off x="1005840" y="3465576"/>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Switch</a:t>
            </a:r>
            <a:endParaRPr lang="en-US" sz="2200" dirty="0"/>
          </a:p>
        </p:txBody>
      </p:sp>
      <p:sp>
        <p:nvSpPr>
          <p:cNvPr id="12" name="Text 10"/>
          <p:cNvSpPr/>
          <p:nvPr/>
        </p:nvSpPr>
        <p:spPr>
          <a:xfrm>
            <a:off x="1005840" y="3831336"/>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Connects devices within the same local network</a:t>
            </a:r>
            <a:endParaRPr lang="en-US" sz="2000" dirty="0"/>
          </a:p>
        </p:txBody>
      </p:sp>
      <p:sp>
        <p:nvSpPr>
          <p:cNvPr id="13" name="Shape 11"/>
          <p:cNvSpPr/>
          <p:nvPr/>
        </p:nvSpPr>
        <p:spPr>
          <a:xfrm>
            <a:off x="640080" y="4636008"/>
            <a:ext cx="201168" cy="201168"/>
          </a:xfrm>
          <a:prstGeom prst="rect">
            <a:avLst/>
          </a:prstGeom>
          <a:solidFill>
            <a:srgbClr val="1F3864"/>
          </a:solidFill>
          <a:ln/>
        </p:spPr>
      </p:sp>
      <p:sp>
        <p:nvSpPr>
          <p:cNvPr id="14" name="Text 12"/>
          <p:cNvSpPr/>
          <p:nvPr/>
        </p:nvSpPr>
        <p:spPr>
          <a:xfrm>
            <a:off x="1005840" y="4526280"/>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DNS</a:t>
            </a:r>
            <a:endParaRPr lang="en-US" sz="2200" dirty="0"/>
          </a:p>
        </p:txBody>
      </p:sp>
      <p:sp>
        <p:nvSpPr>
          <p:cNvPr id="15" name="Text 13"/>
          <p:cNvSpPr/>
          <p:nvPr/>
        </p:nvSpPr>
        <p:spPr>
          <a:xfrm>
            <a:off x="1005840" y="4892040"/>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Translates domain names into IP addresses</a:t>
            </a:r>
            <a:endParaRPr lang="en-US" sz="2000" dirty="0"/>
          </a:p>
        </p:txBody>
      </p:sp>
      <p:sp>
        <p:nvSpPr>
          <p:cNvPr id="16" name="Shape 14"/>
          <p:cNvSpPr/>
          <p:nvPr/>
        </p:nvSpPr>
        <p:spPr>
          <a:xfrm>
            <a:off x="6309360" y="1453896"/>
            <a:ext cx="201168" cy="201168"/>
          </a:xfrm>
          <a:prstGeom prst="rect">
            <a:avLst/>
          </a:prstGeom>
          <a:solidFill>
            <a:srgbClr val="1F3864"/>
          </a:solidFill>
          <a:ln/>
        </p:spPr>
      </p:sp>
      <p:sp>
        <p:nvSpPr>
          <p:cNvPr id="17" name="Text 15"/>
          <p:cNvSpPr/>
          <p:nvPr/>
        </p:nvSpPr>
        <p:spPr>
          <a:xfrm>
            <a:off x="6675120" y="1344168"/>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Firewall</a:t>
            </a:r>
            <a:endParaRPr lang="en-US" sz="2200" dirty="0"/>
          </a:p>
        </p:txBody>
      </p:sp>
      <p:sp>
        <p:nvSpPr>
          <p:cNvPr id="18" name="Text 16"/>
          <p:cNvSpPr/>
          <p:nvPr/>
        </p:nvSpPr>
        <p:spPr>
          <a:xfrm>
            <a:off x="6675120" y="1709928"/>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Filters traffic to block unauthorised access</a:t>
            </a:r>
            <a:endParaRPr lang="en-US" sz="2000" dirty="0"/>
          </a:p>
        </p:txBody>
      </p:sp>
      <p:sp>
        <p:nvSpPr>
          <p:cNvPr id="19" name="Shape 17"/>
          <p:cNvSpPr/>
          <p:nvPr/>
        </p:nvSpPr>
        <p:spPr>
          <a:xfrm>
            <a:off x="6309360" y="2514600"/>
            <a:ext cx="201168" cy="201168"/>
          </a:xfrm>
          <a:prstGeom prst="rect">
            <a:avLst/>
          </a:prstGeom>
          <a:solidFill>
            <a:srgbClr val="1F3864"/>
          </a:solidFill>
          <a:ln/>
        </p:spPr>
      </p:sp>
      <p:sp>
        <p:nvSpPr>
          <p:cNvPr id="20" name="Text 18"/>
          <p:cNvSpPr/>
          <p:nvPr/>
        </p:nvSpPr>
        <p:spPr>
          <a:xfrm>
            <a:off x="6675120" y="2404872"/>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Load Balancer</a:t>
            </a:r>
            <a:endParaRPr lang="en-US" sz="2200" dirty="0"/>
          </a:p>
        </p:txBody>
      </p:sp>
      <p:sp>
        <p:nvSpPr>
          <p:cNvPr id="21" name="Text 19"/>
          <p:cNvSpPr/>
          <p:nvPr/>
        </p:nvSpPr>
        <p:spPr>
          <a:xfrm>
            <a:off x="6675120" y="2770632"/>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Spreads requests across multiple servers</a:t>
            </a:r>
            <a:endParaRPr lang="en-US" sz="2000" dirty="0"/>
          </a:p>
        </p:txBody>
      </p:sp>
      <p:sp>
        <p:nvSpPr>
          <p:cNvPr id="22" name="Shape 20"/>
          <p:cNvSpPr/>
          <p:nvPr/>
        </p:nvSpPr>
        <p:spPr>
          <a:xfrm>
            <a:off x="6309360" y="3575304"/>
            <a:ext cx="201168" cy="201168"/>
          </a:xfrm>
          <a:prstGeom prst="rect">
            <a:avLst/>
          </a:prstGeom>
          <a:solidFill>
            <a:srgbClr val="1F3864"/>
          </a:solidFill>
          <a:ln/>
        </p:spPr>
      </p:sp>
      <p:sp>
        <p:nvSpPr>
          <p:cNvPr id="23" name="Text 21"/>
          <p:cNvSpPr/>
          <p:nvPr/>
        </p:nvSpPr>
        <p:spPr>
          <a:xfrm>
            <a:off x="6675120" y="3465576"/>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VPN</a:t>
            </a:r>
            <a:endParaRPr lang="en-US" sz="2200" dirty="0"/>
          </a:p>
        </p:txBody>
      </p:sp>
      <p:sp>
        <p:nvSpPr>
          <p:cNvPr id="24" name="Text 22"/>
          <p:cNvSpPr/>
          <p:nvPr/>
        </p:nvSpPr>
        <p:spPr>
          <a:xfrm>
            <a:off x="6675120" y="3831336"/>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Creates a secure private tunnel over the internet</a:t>
            </a:r>
            <a:endParaRPr lang="en-US" sz="2000" dirty="0"/>
          </a:p>
        </p:txBody>
      </p:sp>
      <p:sp>
        <p:nvSpPr>
          <p:cNvPr id="25" name="Shape 23"/>
          <p:cNvSpPr/>
          <p:nvPr/>
        </p:nvSpPr>
        <p:spPr>
          <a:xfrm>
            <a:off x="6309360" y="4636008"/>
            <a:ext cx="201168" cy="201168"/>
          </a:xfrm>
          <a:prstGeom prst="rect">
            <a:avLst/>
          </a:prstGeom>
          <a:solidFill>
            <a:srgbClr val="1F3864"/>
          </a:solidFill>
          <a:ln/>
        </p:spPr>
      </p:sp>
      <p:sp>
        <p:nvSpPr>
          <p:cNvPr id="26" name="Text 24"/>
          <p:cNvSpPr/>
          <p:nvPr/>
        </p:nvSpPr>
        <p:spPr>
          <a:xfrm>
            <a:off x="6675120" y="4526280"/>
            <a:ext cx="48463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VPC</a:t>
            </a:r>
            <a:endParaRPr lang="en-US" sz="2200" dirty="0"/>
          </a:p>
        </p:txBody>
      </p:sp>
      <p:sp>
        <p:nvSpPr>
          <p:cNvPr id="27" name="Text 25"/>
          <p:cNvSpPr/>
          <p:nvPr/>
        </p:nvSpPr>
        <p:spPr>
          <a:xfrm>
            <a:off x="6675120" y="4892040"/>
            <a:ext cx="4846320" cy="594360"/>
          </a:xfrm>
          <a:prstGeom prst="rect">
            <a:avLst/>
          </a:prstGeom>
          <a:noFill/>
          <a:ln/>
        </p:spPr>
        <p:txBody>
          <a:bodyPr wrap="square" rtlCol="0" anchor="ctr"/>
          <a:lstStyle/>
          <a:p>
            <a:pPr marL="0" indent="0">
              <a:lnSpc>
                <a:spcPct val="105000"/>
              </a:lnSpc>
              <a:buNone/>
            </a:pPr>
            <a:r>
              <a:rPr lang="en-US" sz="2000" dirty="0">
                <a:solidFill>
                  <a:srgbClr val="262626"/>
                </a:solidFill>
                <a:latin typeface="Times New Roman" pitchFamily="34" charset="0"/>
                <a:ea typeface="Times New Roman" pitchFamily="34" charset="-122"/>
                <a:cs typeface="Times New Roman" pitchFamily="34" charset="-120"/>
              </a:rPr>
              <a:t>Isolated private network within the public cloud</a:t>
            </a:r>
            <a:endParaRPr lang="en-US" sz="2000" dirty="0"/>
          </a:p>
        </p:txBody>
      </p:sp>
      <p:sp>
        <p:nvSpPr>
          <p:cNvPr id="28" name="Shape 26"/>
          <p:cNvSpPr/>
          <p:nvPr/>
        </p:nvSpPr>
        <p:spPr>
          <a:xfrm>
            <a:off x="6035040" y="1417320"/>
            <a:ext cx="0" cy="4160520"/>
          </a:xfrm>
          <a:prstGeom prst="line">
            <a:avLst/>
          </a:prstGeom>
          <a:noFill/>
          <a:ln w="12700">
            <a:solidFill>
              <a:srgbClr val="BFBFBF"/>
            </a:solidFill>
            <a:prstDash val="solid"/>
          </a:ln>
        </p:spPr>
      </p:sp>
      <p:sp>
        <p:nvSpPr>
          <p:cNvPr id="29" name="Text 27"/>
          <p:cNvSpPr/>
          <p:nvPr/>
        </p:nvSpPr>
        <p:spPr>
          <a:xfrm>
            <a:off x="548640" y="6547104"/>
            <a:ext cx="7315200" cy="256032"/>
          </a:xfrm>
          <a:prstGeom prst="rect">
            <a:avLst/>
          </a:prstGeom>
          <a:noFill/>
          <a:ln/>
        </p:spPr>
        <p:txBody>
          <a:bodyPr wrap="square" rtlCol="0" anchor="ctr"/>
          <a:lstStyle/>
          <a:p>
            <a:pPr marL="0" indent="0">
              <a:buNone/>
            </a:pPr>
            <a:r>
              <a:rPr lang="en-US" sz="1000" dirty="0">
                <a:solidFill>
                  <a:srgbClr val="44546A"/>
                </a:solidFill>
                <a:latin typeface="Times New Roman" pitchFamily="34" charset="0"/>
                <a:ea typeface="Times New Roman" pitchFamily="34" charset="-122"/>
                <a:cs typeface="Times New Roman" pitchFamily="34" charset="-120"/>
              </a:rPr>
              <a:t>Role of Networking in Cloud Computing</a:t>
            </a:r>
            <a:endParaRPr lang="en-US" sz="1000" dirty="0"/>
          </a:p>
        </p:txBody>
      </p:sp>
      <p:sp>
        <p:nvSpPr>
          <p:cNvPr id="30" name="Text 28"/>
          <p:cNvSpPr/>
          <p:nvPr/>
        </p:nvSpPr>
        <p:spPr>
          <a:xfrm>
            <a:off x="11548872" y="6547104"/>
            <a:ext cx="365760" cy="256032"/>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5</a:t>
            </a:r>
            <a:endParaRPr lang="en-US" sz="1000" dirty="0"/>
          </a:p>
        </p:txBody>
      </p:sp>
      <p:pic>
        <p:nvPicPr>
          <p:cNvPr id="31" name="Picture 30" descr="A blue gear with a symbol and text&#10;&#10;AI-generated content may be incorrect.">
            <a:extLst>
              <a:ext uri="{FF2B5EF4-FFF2-40B4-BE49-F238E27FC236}">
                <a16:creationId xmlns:a16="http://schemas.microsoft.com/office/drawing/2014/main" id="{31FF8BCB-5241-904D-7DAE-7E6E722E5178}"/>
              </a:ext>
            </a:extLst>
          </p:cNvPr>
          <p:cNvPicPr>
            <a:picLocks noChangeAspect="1"/>
          </p:cNvPicPr>
          <p:nvPr/>
        </p:nvPicPr>
        <p:blipFill>
          <a:blip r:embed="rId3"/>
          <a:stretch>
            <a:fillRect/>
          </a:stretch>
        </p:blipFill>
        <p:spPr>
          <a:xfrm>
            <a:off x="9892937" y="235132"/>
            <a:ext cx="1628503" cy="12191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F3864"/>
                </a:solidFill>
                <a:latin typeface="Times New Roman" pitchFamily="34" charset="0"/>
                <a:ea typeface="Times New Roman" pitchFamily="34" charset="-122"/>
                <a:cs typeface="Times New Roman" pitchFamily="34" charset="-120"/>
              </a:rPr>
              <a:t>Real World Example: Google Drive</a:t>
            </a:r>
            <a:endParaRPr lang="en-US" sz="3000" dirty="0"/>
          </a:p>
        </p:txBody>
      </p:sp>
      <p:sp>
        <p:nvSpPr>
          <p:cNvPr id="3" name="Shape 1"/>
          <p:cNvSpPr/>
          <p:nvPr/>
        </p:nvSpPr>
        <p:spPr>
          <a:xfrm>
            <a:off x="548640" y="1170432"/>
            <a:ext cx="11091672" cy="0"/>
          </a:xfrm>
          <a:prstGeom prst="line">
            <a:avLst/>
          </a:prstGeom>
          <a:noFill/>
          <a:ln w="12700">
            <a:solidFill>
              <a:srgbClr val="BFBFBF"/>
            </a:solidFill>
            <a:prstDash val="solid"/>
          </a:ln>
        </p:spPr>
      </p:sp>
      <p:sp>
        <p:nvSpPr>
          <p:cNvPr id="4" name="Shape 2"/>
          <p:cNvSpPr/>
          <p:nvPr/>
        </p:nvSpPr>
        <p:spPr>
          <a:xfrm>
            <a:off x="640080" y="1417320"/>
            <a:ext cx="3291840" cy="502920"/>
          </a:xfrm>
          <a:prstGeom prst="roundRect">
            <a:avLst>
              <a:gd name="adj" fmla="val 12727"/>
            </a:avLst>
          </a:prstGeom>
          <a:solidFill>
            <a:srgbClr val="EEF1F6"/>
          </a:solidFill>
          <a:ln w="15875">
            <a:solidFill>
              <a:srgbClr val="1F3864"/>
            </a:solidFill>
            <a:prstDash val="solid"/>
          </a:ln>
        </p:spPr>
      </p:sp>
      <p:sp>
        <p:nvSpPr>
          <p:cNvPr id="5" name="Text 3"/>
          <p:cNvSpPr/>
          <p:nvPr/>
        </p:nvSpPr>
        <p:spPr>
          <a:xfrm>
            <a:off x="640080" y="1417320"/>
            <a:ext cx="3291840" cy="502920"/>
          </a:xfrm>
          <a:prstGeom prst="rect">
            <a:avLst/>
          </a:prstGeom>
          <a:noFill/>
          <a:ln/>
        </p:spPr>
        <p:txBody>
          <a:bodyPr wrap="square" lIns="0" tIns="0" rIns="0" bIns="0" rtlCol="0" anchor="ctr"/>
          <a:lstStyle/>
          <a:p>
            <a:pPr marL="0" indent="0" algn="ctr">
              <a:buNone/>
            </a:pPr>
            <a:r>
              <a:rPr lang="en-US" sz="1600" b="1" dirty="0">
                <a:solidFill>
                  <a:srgbClr val="1F3864"/>
                </a:solidFill>
                <a:latin typeface="Times New Roman" pitchFamily="34" charset="0"/>
                <a:ea typeface="Times New Roman" pitchFamily="34" charset="-122"/>
                <a:cs typeface="Times New Roman" pitchFamily="34" charset="-120"/>
              </a:rPr>
              <a:t>User Uploads File</a:t>
            </a:r>
            <a:endParaRPr lang="en-US" sz="1600" dirty="0"/>
          </a:p>
        </p:txBody>
      </p:sp>
      <p:sp>
        <p:nvSpPr>
          <p:cNvPr id="6" name="Shape 4"/>
          <p:cNvSpPr/>
          <p:nvPr/>
        </p:nvSpPr>
        <p:spPr>
          <a:xfrm>
            <a:off x="2286000" y="1920240"/>
            <a:ext cx="0" cy="219456"/>
          </a:xfrm>
          <a:prstGeom prst="line">
            <a:avLst/>
          </a:prstGeom>
          <a:noFill/>
          <a:ln w="19050">
            <a:solidFill>
              <a:srgbClr val="1F3864"/>
            </a:solidFill>
            <a:prstDash val="solid"/>
            <a:tailEnd type="triangle"/>
          </a:ln>
        </p:spPr>
      </p:sp>
      <p:sp>
        <p:nvSpPr>
          <p:cNvPr id="7" name="Shape 5"/>
          <p:cNvSpPr/>
          <p:nvPr/>
        </p:nvSpPr>
        <p:spPr>
          <a:xfrm>
            <a:off x="640080" y="2139696"/>
            <a:ext cx="3291840" cy="502920"/>
          </a:xfrm>
          <a:prstGeom prst="roundRect">
            <a:avLst>
              <a:gd name="adj" fmla="val 12727"/>
            </a:avLst>
          </a:prstGeom>
          <a:solidFill>
            <a:srgbClr val="FFFFFF"/>
          </a:solidFill>
          <a:ln w="15875">
            <a:solidFill>
              <a:srgbClr val="1F3864"/>
            </a:solidFill>
            <a:prstDash val="solid"/>
          </a:ln>
        </p:spPr>
      </p:sp>
      <p:sp>
        <p:nvSpPr>
          <p:cNvPr id="8" name="Text 6"/>
          <p:cNvSpPr/>
          <p:nvPr/>
        </p:nvSpPr>
        <p:spPr>
          <a:xfrm>
            <a:off x="640080" y="2139696"/>
            <a:ext cx="3291840" cy="502920"/>
          </a:xfrm>
          <a:prstGeom prst="rect">
            <a:avLst/>
          </a:prstGeom>
          <a:noFill/>
          <a:ln/>
        </p:spPr>
        <p:txBody>
          <a:bodyPr wrap="square" lIns="0" tIns="0" rIns="0" bIns="0" rtlCol="0" anchor="ctr"/>
          <a:lstStyle/>
          <a:p>
            <a:pPr marL="0" indent="0" algn="ctr">
              <a:buNone/>
            </a:pPr>
            <a:r>
              <a:rPr lang="en-US" sz="1600" b="1" dirty="0">
                <a:solidFill>
                  <a:srgbClr val="1F3864"/>
                </a:solidFill>
                <a:latin typeface="Times New Roman" pitchFamily="34" charset="0"/>
                <a:ea typeface="Times New Roman" pitchFamily="34" charset="-122"/>
                <a:cs typeface="Times New Roman" pitchFamily="34" charset="-120"/>
              </a:rPr>
              <a:t>Internet</a:t>
            </a:r>
            <a:endParaRPr lang="en-US" sz="1600" dirty="0"/>
          </a:p>
        </p:txBody>
      </p:sp>
      <p:sp>
        <p:nvSpPr>
          <p:cNvPr id="9" name="Shape 7"/>
          <p:cNvSpPr/>
          <p:nvPr/>
        </p:nvSpPr>
        <p:spPr>
          <a:xfrm>
            <a:off x="2286000" y="2642616"/>
            <a:ext cx="0" cy="219456"/>
          </a:xfrm>
          <a:prstGeom prst="line">
            <a:avLst/>
          </a:prstGeom>
          <a:noFill/>
          <a:ln w="19050">
            <a:solidFill>
              <a:srgbClr val="1F3864"/>
            </a:solidFill>
            <a:prstDash val="solid"/>
            <a:tailEnd type="triangle"/>
          </a:ln>
        </p:spPr>
      </p:sp>
      <p:sp>
        <p:nvSpPr>
          <p:cNvPr id="10" name="Shape 8"/>
          <p:cNvSpPr/>
          <p:nvPr/>
        </p:nvSpPr>
        <p:spPr>
          <a:xfrm>
            <a:off x="640080" y="2862072"/>
            <a:ext cx="3291840" cy="502920"/>
          </a:xfrm>
          <a:prstGeom prst="roundRect">
            <a:avLst>
              <a:gd name="adj" fmla="val 12727"/>
            </a:avLst>
          </a:prstGeom>
          <a:solidFill>
            <a:srgbClr val="EEF1F6"/>
          </a:solidFill>
          <a:ln w="15875">
            <a:solidFill>
              <a:srgbClr val="1F3864"/>
            </a:solidFill>
            <a:prstDash val="solid"/>
          </a:ln>
        </p:spPr>
      </p:sp>
      <p:sp>
        <p:nvSpPr>
          <p:cNvPr id="11" name="Text 9"/>
          <p:cNvSpPr/>
          <p:nvPr/>
        </p:nvSpPr>
        <p:spPr>
          <a:xfrm>
            <a:off x="640080" y="2862072"/>
            <a:ext cx="3291840" cy="502920"/>
          </a:xfrm>
          <a:prstGeom prst="rect">
            <a:avLst/>
          </a:prstGeom>
          <a:noFill/>
          <a:ln/>
        </p:spPr>
        <p:txBody>
          <a:bodyPr wrap="square" lIns="0" tIns="0" rIns="0" bIns="0" rtlCol="0" anchor="ctr"/>
          <a:lstStyle/>
          <a:p>
            <a:pPr marL="0" indent="0" algn="ctr">
              <a:buNone/>
            </a:pPr>
            <a:r>
              <a:rPr lang="en-US" sz="1600" b="1" dirty="0">
                <a:solidFill>
                  <a:srgbClr val="1F3864"/>
                </a:solidFill>
                <a:latin typeface="Times New Roman" pitchFamily="34" charset="0"/>
                <a:ea typeface="Times New Roman" pitchFamily="34" charset="-122"/>
                <a:cs typeface="Times New Roman" pitchFamily="34" charset="-120"/>
              </a:rPr>
              <a:t>Google Network</a:t>
            </a:r>
            <a:endParaRPr lang="en-US" sz="1600" dirty="0"/>
          </a:p>
        </p:txBody>
      </p:sp>
      <p:sp>
        <p:nvSpPr>
          <p:cNvPr id="12" name="Shape 10"/>
          <p:cNvSpPr/>
          <p:nvPr/>
        </p:nvSpPr>
        <p:spPr>
          <a:xfrm>
            <a:off x="2286000" y="3364992"/>
            <a:ext cx="0" cy="219456"/>
          </a:xfrm>
          <a:prstGeom prst="line">
            <a:avLst/>
          </a:prstGeom>
          <a:noFill/>
          <a:ln w="19050">
            <a:solidFill>
              <a:srgbClr val="1F3864"/>
            </a:solidFill>
            <a:prstDash val="solid"/>
            <a:tailEnd type="triangle"/>
          </a:ln>
        </p:spPr>
      </p:sp>
      <p:sp>
        <p:nvSpPr>
          <p:cNvPr id="13" name="Shape 11"/>
          <p:cNvSpPr/>
          <p:nvPr/>
        </p:nvSpPr>
        <p:spPr>
          <a:xfrm>
            <a:off x="640080" y="3584448"/>
            <a:ext cx="3291840" cy="502920"/>
          </a:xfrm>
          <a:prstGeom prst="roundRect">
            <a:avLst>
              <a:gd name="adj" fmla="val 12727"/>
            </a:avLst>
          </a:prstGeom>
          <a:solidFill>
            <a:srgbClr val="FFFFFF"/>
          </a:solidFill>
          <a:ln w="15875">
            <a:solidFill>
              <a:srgbClr val="1F3864"/>
            </a:solidFill>
            <a:prstDash val="solid"/>
          </a:ln>
        </p:spPr>
      </p:sp>
      <p:sp>
        <p:nvSpPr>
          <p:cNvPr id="14" name="Text 12"/>
          <p:cNvSpPr/>
          <p:nvPr/>
        </p:nvSpPr>
        <p:spPr>
          <a:xfrm>
            <a:off x="640080" y="3584448"/>
            <a:ext cx="3291840" cy="502920"/>
          </a:xfrm>
          <a:prstGeom prst="rect">
            <a:avLst/>
          </a:prstGeom>
          <a:noFill/>
          <a:ln/>
        </p:spPr>
        <p:txBody>
          <a:bodyPr wrap="square" lIns="0" tIns="0" rIns="0" bIns="0" rtlCol="0" anchor="ctr"/>
          <a:lstStyle/>
          <a:p>
            <a:pPr marL="0" indent="0" algn="ctr">
              <a:buNone/>
            </a:pPr>
            <a:r>
              <a:rPr lang="en-US" sz="1600" b="1" dirty="0">
                <a:solidFill>
                  <a:srgbClr val="1F3864"/>
                </a:solidFill>
                <a:latin typeface="Times New Roman" pitchFamily="34" charset="0"/>
                <a:ea typeface="Times New Roman" pitchFamily="34" charset="-122"/>
                <a:cs typeface="Times New Roman" pitchFamily="34" charset="-120"/>
              </a:rPr>
              <a:t>Authentication</a:t>
            </a:r>
            <a:endParaRPr lang="en-US" sz="1600" dirty="0"/>
          </a:p>
        </p:txBody>
      </p:sp>
      <p:sp>
        <p:nvSpPr>
          <p:cNvPr id="15" name="Shape 13"/>
          <p:cNvSpPr/>
          <p:nvPr/>
        </p:nvSpPr>
        <p:spPr>
          <a:xfrm>
            <a:off x="2286000" y="4087368"/>
            <a:ext cx="0" cy="219456"/>
          </a:xfrm>
          <a:prstGeom prst="line">
            <a:avLst/>
          </a:prstGeom>
          <a:noFill/>
          <a:ln w="19050">
            <a:solidFill>
              <a:srgbClr val="1F3864"/>
            </a:solidFill>
            <a:prstDash val="solid"/>
            <a:tailEnd type="triangle"/>
          </a:ln>
        </p:spPr>
      </p:sp>
      <p:sp>
        <p:nvSpPr>
          <p:cNvPr id="16" name="Shape 14"/>
          <p:cNvSpPr/>
          <p:nvPr/>
        </p:nvSpPr>
        <p:spPr>
          <a:xfrm>
            <a:off x="640080" y="4306824"/>
            <a:ext cx="3291840" cy="502920"/>
          </a:xfrm>
          <a:prstGeom prst="roundRect">
            <a:avLst>
              <a:gd name="adj" fmla="val 12727"/>
            </a:avLst>
          </a:prstGeom>
          <a:solidFill>
            <a:srgbClr val="EEF1F6"/>
          </a:solidFill>
          <a:ln w="15875">
            <a:solidFill>
              <a:srgbClr val="1F3864"/>
            </a:solidFill>
            <a:prstDash val="solid"/>
          </a:ln>
        </p:spPr>
      </p:sp>
      <p:sp>
        <p:nvSpPr>
          <p:cNvPr id="17" name="Text 15"/>
          <p:cNvSpPr/>
          <p:nvPr/>
        </p:nvSpPr>
        <p:spPr>
          <a:xfrm>
            <a:off x="640080" y="4306824"/>
            <a:ext cx="3291840" cy="502920"/>
          </a:xfrm>
          <a:prstGeom prst="rect">
            <a:avLst/>
          </a:prstGeom>
          <a:noFill/>
          <a:ln/>
        </p:spPr>
        <p:txBody>
          <a:bodyPr wrap="square" lIns="0" tIns="0" rIns="0" bIns="0" rtlCol="0" anchor="ctr"/>
          <a:lstStyle/>
          <a:p>
            <a:pPr marL="0" indent="0" algn="ctr">
              <a:buNone/>
            </a:pPr>
            <a:r>
              <a:rPr lang="en-US" sz="1600" b="1" dirty="0">
                <a:solidFill>
                  <a:srgbClr val="1F3864"/>
                </a:solidFill>
                <a:latin typeface="Times New Roman" pitchFamily="34" charset="0"/>
                <a:ea typeface="Times New Roman" pitchFamily="34" charset="-122"/>
                <a:cs typeface="Times New Roman" pitchFamily="34" charset="-120"/>
              </a:rPr>
              <a:t>Cloud Storage</a:t>
            </a:r>
            <a:endParaRPr lang="en-US" sz="1600" dirty="0"/>
          </a:p>
        </p:txBody>
      </p:sp>
      <p:sp>
        <p:nvSpPr>
          <p:cNvPr id="18" name="Shape 16"/>
          <p:cNvSpPr/>
          <p:nvPr/>
        </p:nvSpPr>
        <p:spPr>
          <a:xfrm>
            <a:off x="2286000" y="4809744"/>
            <a:ext cx="0" cy="219456"/>
          </a:xfrm>
          <a:prstGeom prst="line">
            <a:avLst/>
          </a:prstGeom>
          <a:noFill/>
          <a:ln w="19050">
            <a:solidFill>
              <a:srgbClr val="1F3864"/>
            </a:solidFill>
            <a:prstDash val="solid"/>
            <a:tailEnd type="triangle"/>
          </a:ln>
        </p:spPr>
      </p:sp>
      <p:sp>
        <p:nvSpPr>
          <p:cNvPr id="19" name="Shape 17"/>
          <p:cNvSpPr/>
          <p:nvPr/>
        </p:nvSpPr>
        <p:spPr>
          <a:xfrm>
            <a:off x="640080" y="5029200"/>
            <a:ext cx="3291840" cy="502920"/>
          </a:xfrm>
          <a:prstGeom prst="roundRect">
            <a:avLst>
              <a:gd name="adj" fmla="val 12727"/>
            </a:avLst>
          </a:prstGeom>
          <a:solidFill>
            <a:srgbClr val="FFFFFF"/>
          </a:solidFill>
          <a:ln w="15875">
            <a:solidFill>
              <a:srgbClr val="1F3864"/>
            </a:solidFill>
            <a:prstDash val="solid"/>
          </a:ln>
        </p:spPr>
      </p:sp>
      <p:sp>
        <p:nvSpPr>
          <p:cNvPr id="20" name="Text 18"/>
          <p:cNvSpPr/>
          <p:nvPr/>
        </p:nvSpPr>
        <p:spPr>
          <a:xfrm>
            <a:off x="640080" y="5029200"/>
            <a:ext cx="3291840" cy="502920"/>
          </a:xfrm>
          <a:prstGeom prst="rect">
            <a:avLst/>
          </a:prstGeom>
          <a:noFill/>
          <a:ln/>
        </p:spPr>
        <p:txBody>
          <a:bodyPr wrap="square" lIns="0" tIns="0" rIns="0" bIns="0" rtlCol="0" anchor="ctr"/>
          <a:lstStyle/>
          <a:p>
            <a:pPr marL="0" indent="0" algn="ctr">
              <a:buNone/>
            </a:pPr>
            <a:r>
              <a:rPr lang="en-US" sz="1600" b="1" dirty="0">
                <a:solidFill>
                  <a:srgbClr val="1F3864"/>
                </a:solidFill>
                <a:latin typeface="Times New Roman" pitchFamily="34" charset="0"/>
                <a:ea typeface="Times New Roman" pitchFamily="34" charset="-122"/>
                <a:cs typeface="Times New Roman" pitchFamily="34" charset="-120"/>
              </a:rPr>
              <a:t>File Retrieval</a:t>
            </a:r>
            <a:endParaRPr lang="en-US" sz="1600" dirty="0"/>
          </a:p>
        </p:txBody>
      </p:sp>
      <p:sp>
        <p:nvSpPr>
          <p:cNvPr id="21" name="Text 19"/>
          <p:cNvSpPr/>
          <p:nvPr/>
        </p:nvSpPr>
        <p:spPr>
          <a:xfrm>
            <a:off x="4663440" y="1417320"/>
            <a:ext cx="6903720" cy="365760"/>
          </a:xfrm>
          <a:prstGeom prst="rect">
            <a:avLst/>
          </a:prstGeom>
          <a:noFill/>
          <a:ln/>
        </p:spPr>
        <p:txBody>
          <a:bodyPr wrap="square" rtlCol="0" anchor="ctr"/>
          <a:lstStyle/>
          <a:p>
            <a:pPr marL="0" indent="0">
              <a:buNone/>
            </a:pPr>
            <a:r>
              <a:rPr lang="en-US" sz="2200" b="1" dirty="0">
                <a:solidFill>
                  <a:srgbClr val="1F3864"/>
                </a:solidFill>
                <a:latin typeface="Times New Roman" pitchFamily="34" charset="0"/>
                <a:ea typeface="Times New Roman" pitchFamily="34" charset="-122"/>
                <a:cs typeface="Times New Roman" pitchFamily="34" charset="-120"/>
              </a:rPr>
              <a:t>Why Networking is Essential Here</a:t>
            </a:r>
            <a:endParaRPr lang="en-US" sz="2200" dirty="0"/>
          </a:p>
        </p:txBody>
      </p:sp>
      <p:sp>
        <p:nvSpPr>
          <p:cNvPr id="22" name="Text 20"/>
          <p:cNvSpPr/>
          <p:nvPr/>
        </p:nvSpPr>
        <p:spPr>
          <a:xfrm>
            <a:off x="4663440" y="1920240"/>
            <a:ext cx="6903720" cy="3291840"/>
          </a:xfrm>
          <a:prstGeom prst="rect">
            <a:avLst/>
          </a:prstGeom>
          <a:noFill/>
          <a:ln/>
        </p:spPr>
        <p:txBody>
          <a:bodyPr wrap="square" rtlCol="0" anchor="ctr"/>
          <a:lstStyle/>
          <a:p>
            <a:pPr marL="342900" indent="-342900">
              <a:lnSpc>
                <a:spcPct val="112000"/>
              </a:lnSpc>
              <a:spcAft>
                <a:spcPts val="10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The internet carries the file from device to Google's servers</a:t>
            </a:r>
            <a:endParaRPr lang="en-US" sz="2000" dirty="0"/>
          </a:p>
          <a:p>
            <a:pPr marL="342900" indent="-342900">
              <a:lnSpc>
                <a:spcPct val="112000"/>
              </a:lnSpc>
              <a:spcAft>
                <a:spcPts val="10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Google's internal network routes it to the nearest data centre</a:t>
            </a:r>
            <a:endParaRPr lang="en-US" sz="2000" dirty="0"/>
          </a:p>
          <a:p>
            <a:pPr marL="342900" indent="-342900">
              <a:lnSpc>
                <a:spcPct val="112000"/>
              </a:lnSpc>
              <a:spcAft>
                <a:spcPts val="10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Authentication servers verify identity before granting access</a:t>
            </a:r>
            <a:endParaRPr lang="en-US" sz="2000" dirty="0"/>
          </a:p>
          <a:p>
            <a:pPr marL="342900" indent="-342900">
              <a:lnSpc>
                <a:spcPct val="112000"/>
              </a:lnSpc>
              <a:spcAft>
                <a:spcPts val="10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The file is stored across distributed cloud storage nodes</a:t>
            </a:r>
            <a:endParaRPr lang="en-US" sz="2000" dirty="0"/>
          </a:p>
          <a:p>
            <a:pPr marL="342900" indent="-342900">
              <a:lnSpc>
                <a:spcPct val="112000"/>
              </a:lnSpc>
              <a:spcAft>
                <a:spcPts val="10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Retrieval requires the same network path in reverse, instantly</a:t>
            </a:r>
            <a:endParaRPr lang="en-US" sz="2000" dirty="0"/>
          </a:p>
          <a:p>
            <a:pPr marL="342900" indent="-342900">
              <a:lnSpc>
                <a:spcPct val="112000"/>
              </a:lnSpc>
              <a:spcAft>
                <a:spcPts val="10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Without reliable networking, none of these steps would connect</a:t>
            </a:r>
            <a:endParaRPr lang="en-US" sz="2000" dirty="0"/>
          </a:p>
        </p:txBody>
      </p:sp>
      <p:sp>
        <p:nvSpPr>
          <p:cNvPr id="23" name="Text 21"/>
          <p:cNvSpPr/>
          <p:nvPr/>
        </p:nvSpPr>
        <p:spPr>
          <a:xfrm>
            <a:off x="548640" y="6547104"/>
            <a:ext cx="7315200" cy="256032"/>
          </a:xfrm>
          <a:prstGeom prst="rect">
            <a:avLst/>
          </a:prstGeom>
          <a:noFill/>
          <a:ln/>
        </p:spPr>
        <p:txBody>
          <a:bodyPr wrap="square" rtlCol="0" anchor="ctr"/>
          <a:lstStyle/>
          <a:p>
            <a:pPr marL="0" indent="0">
              <a:buNone/>
            </a:pPr>
            <a:r>
              <a:rPr lang="en-US" sz="1000" dirty="0">
                <a:solidFill>
                  <a:srgbClr val="44546A"/>
                </a:solidFill>
                <a:latin typeface="Times New Roman" pitchFamily="34" charset="0"/>
                <a:ea typeface="Times New Roman" pitchFamily="34" charset="-122"/>
                <a:cs typeface="Times New Roman" pitchFamily="34" charset="-120"/>
              </a:rPr>
              <a:t>Role of Networking in Cloud Computing</a:t>
            </a:r>
            <a:endParaRPr lang="en-US" sz="1000" dirty="0"/>
          </a:p>
        </p:txBody>
      </p:sp>
      <p:sp>
        <p:nvSpPr>
          <p:cNvPr id="24" name="Text 22"/>
          <p:cNvSpPr/>
          <p:nvPr/>
        </p:nvSpPr>
        <p:spPr>
          <a:xfrm>
            <a:off x="11548872" y="6547104"/>
            <a:ext cx="365760" cy="256032"/>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6</a:t>
            </a:r>
            <a:endParaRPr lang="en-US" sz="1000" dirty="0"/>
          </a:p>
        </p:txBody>
      </p:sp>
      <p:pic>
        <p:nvPicPr>
          <p:cNvPr id="25" name="Picture 24" descr="A blue gear with a symbol and text&#10;&#10;AI-generated content may be incorrect.">
            <a:extLst>
              <a:ext uri="{FF2B5EF4-FFF2-40B4-BE49-F238E27FC236}">
                <a16:creationId xmlns:a16="http://schemas.microsoft.com/office/drawing/2014/main" id="{DEB7EDC1-7D6D-1C3C-01F9-EC3D73E9C909}"/>
              </a:ext>
            </a:extLst>
          </p:cNvPr>
          <p:cNvPicPr>
            <a:picLocks noChangeAspect="1"/>
          </p:cNvPicPr>
          <p:nvPr/>
        </p:nvPicPr>
        <p:blipFill>
          <a:blip r:embed="rId3"/>
          <a:stretch>
            <a:fillRect/>
          </a:stretch>
        </p:blipFill>
        <p:spPr>
          <a:xfrm>
            <a:off x="9892937" y="235132"/>
            <a:ext cx="1628503" cy="12191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F3864"/>
                </a:solidFill>
                <a:latin typeface="Times New Roman" pitchFamily="34" charset="0"/>
                <a:ea typeface="Times New Roman" pitchFamily="34" charset="-122"/>
                <a:cs typeface="Times New Roman" pitchFamily="34" charset="-120"/>
              </a:rPr>
              <a:t>Industry Relevance</a:t>
            </a:r>
            <a:endParaRPr lang="en-US" sz="3000" dirty="0"/>
          </a:p>
        </p:txBody>
      </p:sp>
      <p:sp>
        <p:nvSpPr>
          <p:cNvPr id="3" name="Shape 1"/>
          <p:cNvSpPr/>
          <p:nvPr/>
        </p:nvSpPr>
        <p:spPr>
          <a:xfrm>
            <a:off x="548640" y="1170432"/>
            <a:ext cx="11091672" cy="0"/>
          </a:xfrm>
          <a:prstGeom prst="line">
            <a:avLst/>
          </a:prstGeom>
          <a:noFill/>
          <a:ln w="12700">
            <a:solidFill>
              <a:srgbClr val="BFBFBF"/>
            </a:solidFill>
            <a:prstDash val="solid"/>
          </a:ln>
        </p:spPr>
      </p:sp>
      <p:sp>
        <p:nvSpPr>
          <p:cNvPr id="4" name="Text 2"/>
          <p:cNvSpPr/>
          <p:nvPr/>
        </p:nvSpPr>
        <p:spPr>
          <a:xfrm>
            <a:off x="548640" y="1298448"/>
            <a:ext cx="11064240" cy="365760"/>
          </a:xfrm>
          <a:prstGeom prst="rect">
            <a:avLst/>
          </a:prstGeom>
          <a:noFill/>
          <a:ln/>
        </p:spPr>
        <p:txBody>
          <a:bodyPr wrap="square" rtlCol="0" anchor="ctr"/>
          <a:lstStyle/>
          <a:p>
            <a:pPr marL="0" indent="0">
              <a:buNone/>
            </a:pPr>
            <a:r>
              <a:rPr lang="en-US" sz="2000" i="1" dirty="0">
                <a:solidFill>
                  <a:srgbClr val="262626"/>
                </a:solidFill>
                <a:latin typeface="Times New Roman" pitchFamily="34" charset="0"/>
                <a:ea typeface="Times New Roman" pitchFamily="34" charset="-122"/>
                <a:cs typeface="Times New Roman" pitchFamily="34" charset="-120"/>
              </a:rPr>
              <a:t>Cloud networking is not just theory — it powers the platforms and services we use every day.</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4114800"/>
        </p:xfrm>
        <a:graphic>
          <a:graphicData uri="http://schemas.openxmlformats.org/drawingml/2006/table">
            <a:tbl>
              <a:tblPr/>
              <a:tblGrid>
                <a:gridCol w="2743200">
                  <a:extLst>
                    <a:ext uri="{9D8B030D-6E8A-4147-A177-3AD203B41FA5}">
                      <a16:colId xmlns:a16="http://schemas.microsoft.com/office/drawing/2014/main" val="20000"/>
                    </a:ext>
                  </a:extLst>
                </a:gridCol>
                <a:gridCol w="8348472">
                  <a:extLst>
                    <a:ext uri="{9D8B030D-6E8A-4147-A177-3AD203B41FA5}">
                      <a16:colId xmlns:a16="http://schemas.microsoft.com/office/drawing/2014/main" val="20001"/>
                    </a:ext>
                  </a:extLst>
                </a:gridCol>
              </a:tblGrid>
              <a:tr h="457200">
                <a:tc>
                  <a:txBody>
                    <a:bodyPr/>
                    <a:lstStyle/>
                    <a:p>
                      <a:pPr marL="0" indent="0" algn="l">
                        <a:buNone/>
                      </a:pPr>
                      <a:r>
                        <a:rPr lang="en-US" sz="1800" b="1" dirty="0">
                          <a:solidFill>
                            <a:srgbClr val="FFFFFF"/>
                          </a:solidFill>
                          <a:latin typeface="Times New Roman" pitchFamily="34" charset="0"/>
                          <a:ea typeface="Times New Roman" pitchFamily="34" charset="-122"/>
                          <a:cs typeface="Times New Roman" pitchFamily="34" charset="-120"/>
                        </a:rPr>
                        <a:t>Industry</a:t>
                      </a:r>
                      <a:endParaRPr lang="en-US" sz="18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marL="0" indent="0" algn="l">
                        <a:buNone/>
                      </a:pPr>
                      <a:r>
                        <a:rPr lang="en-US" sz="1800" b="1" dirty="0">
                          <a:solidFill>
                            <a:srgbClr val="FFFFFF"/>
                          </a:solidFill>
                          <a:latin typeface="Times New Roman" pitchFamily="34" charset="0"/>
                          <a:ea typeface="Times New Roman" pitchFamily="34" charset="-122"/>
                          <a:cs typeface="Times New Roman" pitchFamily="34" charset="-120"/>
                        </a:rPr>
                        <a:t>How Networking is Used</a:t>
                      </a:r>
                      <a:endParaRPr lang="en-US" sz="18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457200">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AWS</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Global backbone network linking data centres worldwide</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Microsoft Azure</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EF1F6"/>
                    </a:solidFill>
                  </a:tcPr>
                </a:tc>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Hybrid networking connecting on-premise and cloud systems</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457200">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Google Cloud</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Software-defined networking for fast global delivery</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Netflix</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EF1F6"/>
                    </a:solidFill>
                  </a:tcPr>
                </a:tc>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Content delivery network for uninterrupted video streaming</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457200">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Amazon</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Distributed networking supporting e-commerce and logistics</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Banking</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EF1F6"/>
                    </a:solidFill>
                  </a:tcPr>
                </a:tc>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Encrypted channels and VPNs for secure transactions</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EF1F6"/>
                    </a:solidFill>
                  </a:tcPr>
                </a:tc>
                <a:extLst>
                  <a:ext uri="{0D108BD9-81ED-4DB2-BD59-A6C34878D82A}">
                    <a16:rowId xmlns:a16="http://schemas.microsoft.com/office/drawing/2014/main" val="10006"/>
                  </a:ext>
                </a:extLst>
              </a:tr>
              <a:tr h="457200">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Healthcare</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Networked systems for real-time patient data sharing</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Education</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EF1F6"/>
                    </a:solidFill>
                  </a:tcPr>
                </a:tc>
                <a:tc>
                  <a:txBody>
                    <a:bodyPr/>
                    <a:lstStyle/>
                    <a:p>
                      <a:pPr marL="0" indent="0" algn="l">
                        <a:buNone/>
                      </a:pPr>
                      <a:r>
                        <a:rPr lang="en-US" sz="1600" dirty="0">
                          <a:solidFill>
                            <a:srgbClr val="262626"/>
                          </a:solidFill>
                          <a:latin typeface="Times New Roman" pitchFamily="34" charset="0"/>
                          <a:ea typeface="Times New Roman" pitchFamily="34" charset="-122"/>
                          <a:cs typeface="Times New Roman" pitchFamily="34" charset="-120"/>
                        </a:rPr>
                        <a:t>Cloud platforms enabling access to online learning</a:t>
                      </a:r>
                      <a:endParaRPr lang="en-US" sz="1600" dirty="0">
                        <a:latin typeface="Times New Roman" charset="0"/>
                        <a:ea typeface="Times New Roman" charset="0"/>
                        <a:cs typeface="Times New Roman"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EF1F6"/>
                    </a:solidFill>
                  </a:tcPr>
                </a:tc>
                <a:extLst>
                  <a:ext uri="{0D108BD9-81ED-4DB2-BD59-A6C34878D82A}">
                    <a16:rowId xmlns:a16="http://schemas.microsoft.com/office/drawing/2014/main" val="10008"/>
                  </a:ext>
                </a:extLst>
              </a:tr>
            </a:tbl>
          </a:graphicData>
        </a:graphic>
      </p:graphicFrame>
      <p:sp>
        <p:nvSpPr>
          <p:cNvPr id="6" name="Text 3"/>
          <p:cNvSpPr/>
          <p:nvPr/>
        </p:nvSpPr>
        <p:spPr>
          <a:xfrm>
            <a:off x="548640" y="6547104"/>
            <a:ext cx="7315200" cy="256032"/>
          </a:xfrm>
          <a:prstGeom prst="rect">
            <a:avLst/>
          </a:prstGeom>
          <a:noFill/>
          <a:ln/>
        </p:spPr>
        <p:txBody>
          <a:bodyPr wrap="square" rtlCol="0" anchor="ctr"/>
          <a:lstStyle/>
          <a:p>
            <a:pPr marL="0" indent="0">
              <a:buNone/>
            </a:pPr>
            <a:r>
              <a:rPr lang="en-US" sz="1000" dirty="0">
                <a:solidFill>
                  <a:srgbClr val="44546A"/>
                </a:solidFill>
                <a:latin typeface="Times New Roman" pitchFamily="34" charset="0"/>
                <a:ea typeface="Times New Roman" pitchFamily="34" charset="-122"/>
                <a:cs typeface="Times New Roman" pitchFamily="34" charset="-120"/>
              </a:rPr>
              <a:t>Role of Networking in Cloud Computing</a:t>
            </a:r>
            <a:endParaRPr lang="en-US" sz="1000" dirty="0"/>
          </a:p>
        </p:txBody>
      </p:sp>
      <p:sp>
        <p:nvSpPr>
          <p:cNvPr id="7" name="Text 4"/>
          <p:cNvSpPr/>
          <p:nvPr/>
        </p:nvSpPr>
        <p:spPr>
          <a:xfrm>
            <a:off x="11548872" y="6547104"/>
            <a:ext cx="365760" cy="256032"/>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7</a:t>
            </a:r>
            <a:endParaRPr lang="en-US" sz="1000" dirty="0"/>
          </a:p>
        </p:txBody>
      </p:sp>
      <p:pic>
        <p:nvPicPr>
          <p:cNvPr id="5" name="Picture 4" descr="A blue gear with a symbol and text&#10;&#10;AI-generated content may be incorrect.">
            <a:extLst>
              <a:ext uri="{FF2B5EF4-FFF2-40B4-BE49-F238E27FC236}">
                <a16:creationId xmlns:a16="http://schemas.microsoft.com/office/drawing/2014/main" id="{9D137F6A-BDF0-0C7C-8D5E-F00B4420CFAC}"/>
              </a:ext>
            </a:extLst>
          </p:cNvPr>
          <p:cNvPicPr>
            <a:picLocks noChangeAspect="1"/>
          </p:cNvPicPr>
          <p:nvPr/>
        </p:nvPicPr>
        <p:blipFill>
          <a:blip r:embed="rId3"/>
          <a:stretch>
            <a:fillRect/>
          </a:stretch>
        </p:blipFill>
        <p:spPr>
          <a:xfrm>
            <a:off x="9892937" y="235132"/>
            <a:ext cx="1628503" cy="12191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marL="0" indent="0">
              <a:buNone/>
            </a:pPr>
            <a:r>
              <a:rPr lang="en-US" sz="3000" b="1" dirty="0">
                <a:solidFill>
                  <a:srgbClr val="1F3864"/>
                </a:solidFill>
                <a:latin typeface="Times New Roman" pitchFamily="34" charset="0"/>
                <a:ea typeface="Times New Roman" pitchFamily="34" charset="-122"/>
                <a:cs typeface="Times New Roman" pitchFamily="34" charset="-120"/>
              </a:rPr>
              <a:t>Conclusion</a:t>
            </a:r>
            <a:endParaRPr lang="en-US" sz="3000" dirty="0"/>
          </a:p>
        </p:txBody>
      </p:sp>
      <p:sp>
        <p:nvSpPr>
          <p:cNvPr id="3" name="Shape 1"/>
          <p:cNvSpPr/>
          <p:nvPr/>
        </p:nvSpPr>
        <p:spPr>
          <a:xfrm>
            <a:off x="548640" y="1170432"/>
            <a:ext cx="11091672" cy="0"/>
          </a:xfrm>
          <a:prstGeom prst="line">
            <a:avLst/>
          </a:prstGeom>
          <a:noFill/>
          <a:ln w="12700">
            <a:solidFill>
              <a:srgbClr val="BFBFBF"/>
            </a:solidFill>
            <a:prstDash val="solid"/>
          </a:ln>
        </p:spPr>
      </p:sp>
      <p:sp>
        <p:nvSpPr>
          <p:cNvPr id="4" name="Text 2"/>
          <p:cNvSpPr/>
          <p:nvPr/>
        </p:nvSpPr>
        <p:spPr>
          <a:xfrm>
            <a:off x="548640" y="1371600"/>
            <a:ext cx="5394960" cy="365760"/>
          </a:xfrm>
          <a:prstGeom prst="rect">
            <a:avLst/>
          </a:prstGeom>
          <a:noFill/>
          <a:ln/>
        </p:spPr>
        <p:txBody>
          <a:bodyPr wrap="square" rtlCol="0" anchor="ctr"/>
          <a:lstStyle/>
          <a:p>
            <a:pPr marL="0" indent="0">
              <a:buNone/>
            </a:pPr>
            <a:r>
              <a:rPr lang="en-US" sz="2400" b="1" dirty="0">
                <a:solidFill>
                  <a:srgbClr val="1F3864"/>
                </a:solidFill>
                <a:latin typeface="Times New Roman" pitchFamily="34" charset="0"/>
                <a:ea typeface="Times New Roman" pitchFamily="34" charset="-122"/>
                <a:cs typeface="Times New Roman" pitchFamily="34" charset="-120"/>
              </a:rPr>
              <a:t>Key Takeaways</a:t>
            </a:r>
            <a:endParaRPr lang="en-US" sz="2400" dirty="0"/>
          </a:p>
        </p:txBody>
      </p:sp>
      <p:sp>
        <p:nvSpPr>
          <p:cNvPr id="5" name="Text 3"/>
          <p:cNvSpPr/>
          <p:nvPr/>
        </p:nvSpPr>
        <p:spPr>
          <a:xfrm>
            <a:off x="548640" y="2208276"/>
            <a:ext cx="5394960" cy="2286000"/>
          </a:xfrm>
          <a:prstGeom prst="rect">
            <a:avLst/>
          </a:prstGeom>
          <a:noFill/>
          <a:ln/>
        </p:spPr>
        <p:txBody>
          <a:bodyPr wrap="square" rtlCol="0" anchor="ctr"/>
          <a:lstStyle/>
          <a:p>
            <a:pPr marL="342900" indent="-342900">
              <a:lnSpc>
                <a:spcPct val="112000"/>
              </a:lnSpc>
              <a:spcAft>
                <a:spcPts val="8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Networking is the backbone connecting users to cloud services</a:t>
            </a:r>
            <a:endParaRPr lang="en-US" sz="2000" dirty="0"/>
          </a:p>
          <a:p>
            <a:pPr marL="342900" indent="-342900">
              <a:lnSpc>
                <a:spcPct val="112000"/>
              </a:lnSpc>
              <a:spcAft>
                <a:spcPts val="8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Components like DNS, firewalls and load balancers keep it fast and safe</a:t>
            </a:r>
            <a:endParaRPr lang="en-US" sz="2000" dirty="0"/>
          </a:p>
          <a:p>
            <a:pPr marL="342900" indent="-342900">
              <a:lnSpc>
                <a:spcPct val="112000"/>
              </a:lnSpc>
              <a:spcAft>
                <a:spcPts val="8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Every major platform, from Drive to Netflix, depends on it</a:t>
            </a:r>
            <a:endParaRPr lang="en-US" sz="2000" dirty="0"/>
          </a:p>
          <a:p>
            <a:pPr marL="342900" indent="-342900">
              <a:lnSpc>
                <a:spcPct val="112000"/>
              </a:lnSpc>
              <a:spcAft>
                <a:spcPts val="8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Strong networking enables scalability, reliability and security</a:t>
            </a:r>
            <a:endParaRPr lang="en-US" sz="2000" dirty="0"/>
          </a:p>
        </p:txBody>
      </p:sp>
      <p:sp>
        <p:nvSpPr>
          <p:cNvPr id="6" name="Shape 4"/>
          <p:cNvSpPr/>
          <p:nvPr/>
        </p:nvSpPr>
        <p:spPr>
          <a:xfrm>
            <a:off x="6172200" y="1417320"/>
            <a:ext cx="0" cy="4023360"/>
          </a:xfrm>
          <a:prstGeom prst="line">
            <a:avLst/>
          </a:prstGeom>
          <a:noFill/>
          <a:ln w="12700">
            <a:solidFill>
              <a:srgbClr val="BFBFBF"/>
            </a:solidFill>
            <a:prstDash val="solid"/>
          </a:ln>
        </p:spPr>
      </p:sp>
      <p:sp>
        <p:nvSpPr>
          <p:cNvPr id="7" name="Text 5"/>
          <p:cNvSpPr/>
          <p:nvPr/>
        </p:nvSpPr>
        <p:spPr>
          <a:xfrm>
            <a:off x="6400800" y="1371600"/>
            <a:ext cx="5212080" cy="365760"/>
          </a:xfrm>
          <a:prstGeom prst="rect">
            <a:avLst/>
          </a:prstGeom>
          <a:noFill/>
          <a:ln/>
        </p:spPr>
        <p:txBody>
          <a:bodyPr wrap="square" rtlCol="0" anchor="ctr"/>
          <a:lstStyle/>
          <a:p>
            <a:pPr marL="0" indent="0">
              <a:buNone/>
            </a:pPr>
            <a:r>
              <a:rPr lang="en-US" sz="2400" b="1" dirty="0">
                <a:solidFill>
                  <a:srgbClr val="1F3864"/>
                </a:solidFill>
                <a:latin typeface="Times New Roman" pitchFamily="34" charset="0"/>
                <a:ea typeface="Times New Roman" pitchFamily="34" charset="-122"/>
                <a:cs typeface="Times New Roman" pitchFamily="34" charset="-120"/>
              </a:rPr>
              <a:t>Future Scope</a:t>
            </a:r>
            <a:endParaRPr lang="en-US" sz="2400" dirty="0"/>
          </a:p>
        </p:txBody>
      </p:sp>
      <p:sp>
        <p:nvSpPr>
          <p:cNvPr id="8" name="Text 6"/>
          <p:cNvSpPr/>
          <p:nvPr/>
        </p:nvSpPr>
        <p:spPr>
          <a:xfrm>
            <a:off x="6400800" y="2057400"/>
            <a:ext cx="5212080" cy="2286000"/>
          </a:xfrm>
          <a:prstGeom prst="rect">
            <a:avLst/>
          </a:prstGeom>
          <a:noFill/>
          <a:ln/>
        </p:spPr>
        <p:txBody>
          <a:bodyPr wrap="square" rtlCol="0" anchor="ctr"/>
          <a:lstStyle/>
          <a:p>
            <a:pPr marL="342900" indent="-342900">
              <a:lnSpc>
                <a:spcPct val="112000"/>
              </a:lnSpc>
              <a:spcAft>
                <a:spcPts val="8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Software-defined networking for more flexible cloud management</a:t>
            </a:r>
            <a:endParaRPr lang="en-US" sz="2000" dirty="0"/>
          </a:p>
          <a:p>
            <a:pPr marL="342900" indent="-342900">
              <a:lnSpc>
                <a:spcPct val="112000"/>
              </a:lnSpc>
              <a:spcAft>
                <a:spcPts val="8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5G integration for faster mobile cloud access</a:t>
            </a:r>
            <a:endParaRPr lang="en-US" sz="2000" dirty="0"/>
          </a:p>
          <a:p>
            <a:pPr marL="342900" indent="-342900">
              <a:lnSpc>
                <a:spcPct val="112000"/>
              </a:lnSpc>
              <a:spcAft>
                <a:spcPts val="8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Edge computing to reduce latency near the user</a:t>
            </a:r>
            <a:endParaRPr lang="en-US" sz="2000" dirty="0"/>
          </a:p>
          <a:p>
            <a:pPr marL="342900" indent="-342900">
              <a:lnSpc>
                <a:spcPct val="112000"/>
              </a:lnSpc>
              <a:spcAft>
                <a:spcPts val="800"/>
              </a:spcAft>
              <a:buSzPct val="100000"/>
              <a:buChar char="•"/>
            </a:pPr>
            <a:r>
              <a:rPr lang="en-US" sz="2000" dirty="0">
                <a:solidFill>
                  <a:srgbClr val="262626"/>
                </a:solidFill>
                <a:latin typeface="Times New Roman" pitchFamily="34" charset="0"/>
                <a:ea typeface="Times New Roman" pitchFamily="34" charset="-122"/>
                <a:cs typeface="Times New Roman" pitchFamily="34" charset="-120"/>
              </a:rPr>
              <a:t>AI-driven network monitoring for proactive security</a:t>
            </a:r>
            <a:endParaRPr lang="en-US" sz="2000" dirty="0"/>
          </a:p>
        </p:txBody>
      </p:sp>
      <p:sp>
        <p:nvSpPr>
          <p:cNvPr id="9" name="Shape 7"/>
          <p:cNvSpPr/>
          <p:nvPr/>
        </p:nvSpPr>
        <p:spPr>
          <a:xfrm>
            <a:off x="548640" y="5532120"/>
            <a:ext cx="11091672" cy="822960"/>
          </a:xfrm>
          <a:prstGeom prst="rect">
            <a:avLst/>
          </a:prstGeom>
          <a:solidFill>
            <a:srgbClr val="EEF1F6"/>
          </a:solidFill>
          <a:ln w="12700">
            <a:solidFill>
              <a:srgbClr val="BFBFBF"/>
            </a:solidFill>
            <a:prstDash val="solid"/>
          </a:ln>
        </p:spPr>
      </p:sp>
      <p:sp>
        <p:nvSpPr>
          <p:cNvPr id="10" name="Text 8"/>
          <p:cNvSpPr/>
          <p:nvPr/>
        </p:nvSpPr>
        <p:spPr>
          <a:xfrm>
            <a:off x="548640" y="5532120"/>
            <a:ext cx="11091672" cy="822960"/>
          </a:xfrm>
          <a:prstGeom prst="rect">
            <a:avLst/>
          </a:prstGeom>
          <a:noFill/>
          <a:ln/>
        </p:spPr>
        <p:txBody>
          <a:bodyPr wrap="square" rtlCol="0" anchor="ctr"/>
          <a:lstStyle/>
          <a:p>
            <a:pPr marL="0" indent="0" algn="ctr">
              <a:buNone/>
            </a:pPr>
            <a:r>
              <a:rPr lang="en-US" sz="2600" b="1" dirty="0">
                <a:solidFill>
                  <a:srgbClr val="1F3864"/>
                </a:solidFill>
                <a:latin typeface="Times New Roman" pitchFamily="34" charset="0"/>
                <a:ea typeface="Times New Roman" pitchFamily="34" charset="-122"/>
                <a:cs typeface="Times New Roman" pitchFamily="34" charset="-120"/>
              </a:rPr>
              <a:t>Thank You</a:t>
            </a:r>
            <a:endParaRPr lang="en-US" sz="2600" dirty="0"/>
          </a:p>
        </p:txBody>
      </p:sp>
      <p:sp>
        <p:nvSpPr>
          <p:cNvPr id="11" name="Text 9"/>
          <p:cNvSpPr/>
          <p:nvPr/>
        </p:nvSpPr>
        <p:spPr>
          <a:xfrm>
            <a:off x="548640" y="6547104"/>
            <a:ext cx="7315200" cy="256032"/>
          </a:xfrm>
          <a:prstGeom prst="rect">
            <a:avLst/>
          </a:prstGeom>
          <a:noFill/>
          <a:ln/>
        </p:spPr>
        <p:txBody>
          <a:bodyPr wrap="square" rtlCol="0" anchor="ctr"/>
          <a:lstStyle/>
          <a:p>
            <a:pPr marL="0" indent="0">
              <a:buNone/>
            </a:pPr>
            <a:r>
              <a:rPr lang="en-US" sz="1000" dirty="0">
                <a:solidFill>
                  <a:srgbClr val="44546A"/>
                </a:solidFill>
                <a:latin typeface="Times New Roman" pitchFamily="34" charset="0"/>
                <a:ea typeface="Times New Roman" pitchFamily="34" charset="-122"/>
                <a:cs typeface="Times New Roman" pitchFamily="34" charset="-120"/>
              </a:rPr>
              <a:t>Role of Networking in Cloud Computing</a:t>
            </a:r>
            <a:endParaRPr lang="en-US" sz="1000" dirty="0"/>
          </a:p>
        </p:txBody>
      </p:sp>
      <p:sp>
        <p:nvSpPr>
          <p:cNvPr id="12" name="Text 10"/>
          <p:cNvSpPr/>
          <p:nvPr/>
        </p:nvSpPr>
        <p:spPr>
          <a:xfrm>
            <a:off x="11548872" y="6547104"/>
            <a:ext cx="365760" cy="256032"/>
          </a:xfrm>
          <a:prstGeom prst="rect">
            <a:avLst/>
          </a:prstGeom>
          <a:noFill/>
          <a:ln/>
        </p:spPr>
        <p:txBody>
          <a:bodyPr wrap="square" rtlCol="0" anchor="ctr"/>
          <a:lstStyle/>
          <a:p>
            <a:pPr marL="0" indent="0" algn="r">
              <a:buNone/>
            </a:pPr>
            <a:r>
              <a:rPr lang="en-US" sz="1000" dirty="0">
                <a:solidFill>
                  <a:srgbClr val="44546A"/>
                </a:solidFill>
                <a:latin typeface="Times New Roman" pitchFamily="34" charset="0"/>
                <a:ea typeface="Times New Roman" pitchFamily="34" charset="-122"/>
                <a:cs typeface="Times New Roman" pitchFamily="34" charset="-120"/>
              </a:rPr>
              <a:t>8</a:t>
            </a:r>
            <a:endParaRPr lang="en-US" sz="1000" dirty="0"/>
          </a:p>
        </p:txBody>
      </p:sp>
      <p:pic>
        <p:nvPicPr>
          <p:cNvPr id="13" name="Picture 12" descr="A blue gear with a symbol and text&#10;&#10;AI-generated content may be incorrect.">
            <a:extLst>
              <a:ext uri="{FF2B5EF4-FFF2-40B4-BE49-F238E27FC236}">
                <a16:creationId xmlns:a16="http://schemas.microsoft.com/office/drawing/2014/main" id="{9155E40B-FE7B-FE08-4AC6-8B389955BE18}"/>
              </a:ext>
            </a:extLst>
          </p:cNvPr>
          <p:cNvPicPr>
            <a:picLocks noChangeAspect="1"/>
          </p:cNvPicPr>
          <p:nvPr/>
        </p:nvPicPr>
        <p:blipFill>
          <a:blip r:embed="rId3"/>
          <a:stretch>
            <a:fillRect/>
          </a:stretch>
        </p:blipFill>
        <p:spPr>
          <a:xfrm>
            <a:off x="9892937" y="235132"/>
            <a:ext cx="1628503" cy="121917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1449</Words>
  <Application>Microsoft Office PowerPoint</Application>
  <PresentationFormat>Widescreen</PresentationFormat>
  <Paragraphs>156</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Vino</cp:lastModifiedBy>
  <cp:revision>3</cp:revision>
  <dcterms:created xsi:type="dcterms:W3CDTF">2026-07-22T05:18:11Z</dcterms:created>
  <dcterms:modified xsi:type="dcterms:W3CDTF">2026-07-26T18:50:01Z</dcterms:modified>
</cp:coreProperties>
</file>